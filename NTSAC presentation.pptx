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 id="2147483649" r:id="rId2"/>
  </p:sldMasterIdLst>
  <p:notesMasterIdLst>
    <p:notesMasterId r:id="rId15"/>
  </p:notesMasterIdLst>
  <p:sldIdLst>
    <p:sldId id="257" r:id="rId3"/>
    <p:sldId id="268" r:id="rId4"/>
    <p:sldId id="259" r:id="rId5"/>
    <p:sldId id="260" r:id="rId6"/>
    <p:sldId id="271" r:id="rId7"/>
    <p:sldId id="262" r:id="rId8"/>
    <p:sldId id="263" r:id="rId9"/>
    <p:sldId id="265" r:id="rId10"/>
    <p:sldId id="266" r:id="rId11"/>
    <p:sldId id="267"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48"/>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BFBF8-226F-41F2-AE36-589E7618FDF7}"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4BA68-9936-47B0-90E6-5B3DAF3C3201}" type="slidenum">
              <a:rPr lang="en-US" smtClean="0"/>
              <a:t>‹#›</a:t>
            </a:fld>
            <a:endParaRPr lang="en-US"/>
          </a:p>
        </p:txBody>
      </p:sp>
    </p:spTree>
    <p:extLst>
      <p:ext uri="{BB962C8B-B14F-4D97-AF65-F5344CB8AC3E}">
        <p14:creationId xmlns:p14="http://schemas.microsoft.com/office/powerpoint/2010/main" val="418743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Agentic AI refers to a class of artificial intelligence systems designed to exhibit autonomous, goal-directed behavior. These systems perceive their environment, make complex decisions, and take actions with minimal human intervention. Core concepts include agency — the ability to act independently; autonomy — operating without explicit step-by-step guidance; and goal-pursuit — continuously working toward objectives. Unlike traditional passive AI models that merely respond to user prompts or perform isolated tasks, agentic AI proactively plans, adapts, and executes multi-step processes to fulfill complex goals.</a:t>
            </a:r>
          </a:p>
          <a:p>
            <a:endParaRPr lang="en-US" dirty="0"/>
          </a:p>
        </p:txBody>
      </p:sp>
      <p:sp>
        <p:nvSpPr>
          <p:cNvPr id="4" name="Slide Number Placeholder 3"/>
          <p:cNvSpPr>
            <a:spLocks noGrp="1"/>
          </p:cNvSpPr>
          <p:nvPr>
            <p:ph type="sldNum" sz="quarter" idx="5"/>
          </p:nvPr>
        </p:nvSpPr>
        <p:spPr/>
        <p:txBody>
          <a:bodyPr/>
          <a:lstStyle/>
          <a:p>
            <a:fld id="{5724BA68-9936-47B0-90E6-5B3DAF3C3201}" type="slidenum">
              <a:rPr lang="en-US" smtClean="0"/>
              <a:t>3</a:t>
            </a:fld>
            <a:endParaRPr lang="en-US"/>
          </a:p>
        </p:txBody>
      </p:sp>
    </p:spTree>
    <p:extLst>
      <p:ext uri="{BB962C8B-B14F-4D97-AF65-F5344CB8AC3E}">
        <p14:creationId xmlns:p14="http://schemas.microsoft.com/office/powerpoint/2010/main" val="1035392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4/16/2026</a:t>
            </a:fld>
            <a:endParaRPr lang="en-US" dirty="0"/>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42283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9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979181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218000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4/16/2026</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055987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5748377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4/16/2026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083937239"/>
      </p:ext>
    </p:extLst>
  </p:cSld>
  <p:clrMap bg1="lt1" tx1="dk1" bg2="lt2" tx2="dk2" accent1="accent1" accent2="accent2" accent3="accent3" accent4="accent4" accent5="accent5" accent6="accent6" hlink="hlink" folHlink="folHlink"/>
  <p:sldLayoutIdLst>
    <p:sldLayoutId id="2147483679" r:id="rId1"/>
    <p:sldLayoutId id="2147483672" r:id="rId2"/>
    <p:sldLayoutId id="2147483671" r:id="rId3"/>
    <p:sldLayoutId id="2147483661" r:id="rId4"/>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4/16/2026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5.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notesSlide" Target="../notesSlides/notesSlide1.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18" Type="http://schemas.openxmlformats.org/officeDocument/2006/relationships/tags" Target="../tags/tag26.xml"/><Relationship Id="rId3" Type="http://schemas.openxmlformats.org/officeDocument/2006/relationships/tags" Target="../tags/tag11.xml"/><Relationship Id="rId21" Type="http://schemas.openxmlformats.org/officeDocument/2006/relationships/image" Target="../media/image3.svg"/><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tags" Target="../tags/tag25.xml"/><Relationship Id="rId2" Type="http://schemas.openxmlformats.org/officeDocument/2006/relationships/tags" Target="../tags/tag10.xml"/><Relationship Id="rId16" Type="http://schemas.openxmlformats.org/officeDocument/2006/relationships/tags" Target="../tags/tag24.xml"/><Relationship Id="rId20" Type="http://schemas.openxmlformats.org/officeDocument/2006/relationships/image" Target="../media/image2.sv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image" Target="../media/image6.svg"/><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image" Target="../media/image5.svg"/><Relationship Id="rId10" Type="http://schemas.openxmlformats.org/officeDocument/2006/relationships/tags" Target="../tags/tag18.xml"/><Relationship Id="rId19" Type="http://schemas.openxmlformats.org/officeDocument/2006/relationships/slideLayout" Target="../slideLayouts/slideLayout2.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6.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image" Target="../media/image8.jpeg"/><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image" Target="../media/image7.jpeg"/><Relationship Id="rId2" Type="http://schemas.openxmlformats.org/officeDocument/2006/relationships/tags" Target="../tags/tag30.xml"/><Relationship Id="rId16" Type="http://schemas.openxmlformats.org/officeDocument/2006/relationships/slideLayout" Target="../slideLayouts/slideLayout4.xml"/><Relationship Id="rId20" Type="http://schemas.openxmlformats.org/officeDocument/2006/relationships/image" Target="../media/image10.png"/><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5" Type="http://schemas.openxmlformats.org/officeDocument/2006/relationships/tags" Target="../tags/tag43.xml"/><Relationship Id="rId10" Type="http://schemas.openxmlformats.org/officeDocument/2006/relationships/tags" Target="../tags/tag38.xml"/><Relationship Id="rId19" Type="http://schemas.openxmlformats.org/officeDocument/2006/relationships/image" Target="../media/image9.jpeg"/><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s>
</file>

<file path=ppt/slides/_rels/slide7.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slideLayout" Target="../slideLayouts/slideLayout4.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10" Type="http://schemas.openxmlformats.org/officeDocument/2006/relationships/image" Target="../media/image12.svg"/><Relationship Id="rId4" Type="http://schemas.openxmlformats.org/officeDocument/2006/relationships/tags" Target="../tags/tag59.xml"/><Relationship Id="rId9" Type="http://schemas.openxmlformats.org/officeDocument/2006/relationships/image" Target="../media/image11.svg"/></Relationships>
</file>

<file path=ppt/slides/_rels/slide9.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tags" Target="../tags/tag75.xml"/><Relationship Id="rId18" Type="http://schemas.openxmlformats.org/officeDocument/2006/relationships/image" Target="../media/image14.svg"/><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4.xml"/><Relationship Id="rId17" Type="http://schemas.openxmlformats.org/officeDocument/2006/relationships/image" Target="../media/image13.svg"/><Relationship Id="rId2" Type="http://schemas.openxmlformats.org/officeDocument/2006/relationships/tags" Target="../tags/tag64.xml"/><Relationship Id="rId16" Type="http://schemas.openxmlformats.org/officeDocument/2006/relationships/slideLayout" Target="../slideLayouts/slideLayout4.xml"/><Relationship Id="rId20" Type="http://schemas.openxmlformats.org/officeDocument/2006/relationships/image" Target="../media/image15.sv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tags" Target="../tags/tag77.xml"/><Relationship Id="rId10" Type="http://schemas.openxmlformats.org/officeDocument/2006/relationships/tags" Target="../tags/tag72.xml"/><Relationship Id="rId19" Type="http://schemas.openxmlformats.org/officeDocument/2006/relationships/image" Target="../media/image2.svg"/><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tags" Target="../tags/tag76.xml"/></Relationships>
</file>

<file path=ppt/slides/_rels/slide10.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slideLayout" Target="../slideLayouts/slideLayout1.xml"/><Relationship Id="rId4" Type="http://schemas.openxmlformats.org/officeDocument/2006/relationships/tags" Target="../tags/tag8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355600" y="1397000"/>
            <a:ext cx="5334000" cy="2159000"/>
          </a:xfrm>
        </p:spPr>
        <p:txBody>
          <a:bodyPr lIns="63500" tIns="0" rIns="0" bIns="0" anchor="b">
            <a:normAutofit/>
          </a:bodyPr>
          <a:lstStyle/>
          <a:p>
            <a:pPr>
              <a:lnSpc>
                <a:spcPct val="80000"/>
              </a:lnSpc>
            </a:pPr>
            <a:r>
              <a:rPr lang="en-US" sz="8400" b="1" dirty="0">
                <a:solidFill>
                  <a:schemeClr val="dk1"/>
                </a:solidFill>
                <a:latin typeface="+mj-lt"/>
              </a:rPr>
              <a:t>Agentic AI</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a:xfrm>
            <a:off x="419100" y="6197600"/>
            <a:ext cx="1905000" cy="304800"/>
          </a:xfrm>
        </p:spPr>
        <p:txBody>
          <a:bodyPr lIns="0" tIns="0" rIns="0" bIns="0">
            <a:normAutofit/>
          </a:bodyPr>
          <a:lstStyle/>
          <a:p>
            <a:pPr marL="0" indent="0">
              <a:buNone/>
            </a:pPr>
            <a:r>
              <a:rPr lang="en-US" sz="1000" b="0" i="0" u="none" dirty="0">
                <a:solidFill>
                  <a:schemeClr val="dk2"/>
                </a:solidFill>
                <a:latin typeface="+mn-lt"/>
              </a:rPr>
              <a:t>April 7, 2026</a:t>
            </a:r>
          </a:p>
        </p:txBody>
      </p:sp>
      <p:pic>
        <p:nvPicPr>
          <p:cNvPr id="7" name="Picture Placeholder 8">
            <a:extLst>
              <a:ext uri="{FF2B5EF4-FFF2-40B4-BE49-F238E27FC236}">
                <a16:creationId xmlns:a16="http://schemas.microsoft.com/office/drawing/2014/main" id="{78C8CE94-2CFD-E8CD-2F66-2A57B1AC3B08}"/>
              </a:ext>
            </a:extLst>
          </p:cNvPr>
          <p:cNvPicPr>
            <a:picLocks noChangeAspect="1"/>
          </p:cNvPicPr>
          <p:nvPr>
            <p:custDataLst>
              <p:tags r:id="rId4"/>
            </p:custDataLst>
          </p:nvPr>
        </p:nvPicPr>
        <p:blipFill rotWithShape="1">
          <a:blip r:embed="rId7" cstate="screen">
            <a:extLst>
              <a:ext uri="{28A0092B-C50C-407E-A947-70E740481C1C}">
                <a14:useLocalDpi xmlns:a14="http://schemas.microsoft.com/office/drawing/2010/main"/>
              </a:ext>
            </a:extLst>
          </a:blip>
          <a:srcRect l="4761" r="4761"/>
          <a:stretch>
            <a:fillRect/>
          </a:stretch>
        </p:blipFill>
        <p:spPr>
          <a:xfrm>
            <a:off x="5461000" y="0"/>
            <a:ext cx="6731000" cy="6858000"/>
          </a:xfrm>
          <a:prstGeom prst="roundRect">
            <a:avLst>
              <a:gd name="adj" fmla="val 0"/>
            </a:avLst>
          </a:prstGeom>
        </p:spPr>
      </p:pic>
      <p:sp>
        <p:nvSpPr>
          <p:cNvPr id="4" name="Subtitle 2">
            <a:extLst>
              <a:ext uri="{FF2B5EF4-FFF2-40B4-BE49-F238E27FC236}">
                <a16:creationId xmlns:a16="http://schemas.microsoft.com/office/drawing/2014/main" id="{7E80BB6F-2E6F-16EA-72DB-9809F2EADD6C}"/>
              </a:ext>
            </a:extLst>
          </p:cNvPr>
          <p:cNvSpPr txBox="1">
            <a:spLocks/>
          </p:cNvSpPr>
          <p:nvPr>
            <p:custDataLst>
              <p:tags r:id="rId5"/>
            </p:custDataLst>
          </p:nvPr>
        </p:nvSpPr>
        <p:spPr>
          <a:xfrm>
            <a:off x="419100" y="3581400"/>
            <a:ext cx="4826000" cy="457200"/>
          </a:xfrm>
          <a:prstGeom prst="rect">
            <a:avLst/>
          </a:prstGeom>
        </p:spPr>
        <p:txBody>
          <a:bodyPr vert="horz" lIns="0" tIns="0" rIns="0" bIns="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2400" kern="1200">
                <a:solidFill>
                  <a:schemeClr val="tx1"/>
                </a:solidFill>
                <a:latin typeface="+mn-lt"/>
                <a:ea typeface="+mn-ea"/>
                <a:cs typeface="Arial" panose="020B0604020202020204" pitchFamily="34" charset="0"/>
              </a:defRPr>
            </a:lvl1pPr>
            <a:lvl2pPr marL="457178" indent="0" algn="ctr" defTabSz="914354" rtl="0" eaLnBrk="1" latinLnBrk="0" hangingPunct="1">
              <a:lnSpc>
                <a:spcPct val="150000"/>
              </a:lnSpc>
              <a:spcBef>
                <a:spcPts val="1200"/>
              </a:spcBef>
              <a:buFont typeface="Arial" panose="020B0604020202020204" pitchFamily="34" charset="0"/>
              <a:buNone/>
              <a:tabLst/>
              <a:defRPr sz="2000" kern="1200">
                <a:solidFill>
                  <a:schemeClr val="tx1"/>
                </a:solidFill>
                <a:latin typeface="+mn-lt"/>
                <a:ea typeface="+mn-ea"/>
                <a:cs typeface="Arial" panose="020B0604020202020204" pitchFamily="34" charset="0"/>
              </a:defRPr>
            </a:lvl2pPr>
            <a:lvl3pPr marL="914354" indent="0" algn="ctr" defTabSz="914354" rtl="0" eaLnBrk="1" latinLnBrk="0" hangingPunct="1">
              <a:lnSpc>
                <a:spcPct val="150000"/>
              </a:lnSpc>
              <a:spcBef>
                <a:spcPts val="1200"/>
              </a:spcBef>
              <a:buFont typeface="Arial" panose="020B0604020202020204" pitchFamily="34" charset="0"/>
              <a:buNone/>
              <a:tabLst/>
              <a:defRPr sz="1800" kern="1200">
                <a:solidFill>
                  <a:schemeClr val="tx1"/>
                </a:solidFill>
                <a:latin typeface="+mn-lt"/>
                <a:ea typeface="+mn-ea"/>
                <a:cs typeface="Arial" panose="020B0604020202020204" pitchFamily="34" charset="0"/>
              </a:defRPr>
            </a:lvl3pPr>
            <a:lvl4pPr marL="1371532"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4pPr>
            <a:lvl5pPr marL="1828709"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5pPr>
            <a:lvl6pPr marL="2285886"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062"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240"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418"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buNone/>
            </a:pPr>
            <a:r>
              <a:rPr lang="en-US" sz="2000" b="1" i="0" u="none" dirty="0">
                <a:solidFill>
                  <a:schemeClr val="accent1"/>
                </a:solidFill>
                <a:latin typeface="+mn-lt"/>
              </a:rPr>
              <a:t>AI That Doesn't Wait for Instructions.</a:t>
            </a:r>
          </a:p>
        </p:txBody>
      </p:sp>
      <p:sp>
        <p:nvSpPr>
          <p:cNvPr id="8" name="Text Box 1"/>
          <p:cNvSpPr txBox="1"/>
          <p:nvPr/>
        </p:nvSpPr>
        <p:spPr>
          <a:xfrm>
            <a:off x="419100" y="4127500"/>
            <a:ext cx="4699000" cy="381000"/>
          </a:xfrm>
          <a:prstGeom prst="rect">
            <a:avLst/>
          </a:prstGeom>
        </p:spPr>
        <p:txBody>
          <a:bodyPr lIns="0" tIns="0" rIns="0" bIns="0"/>
          <a:lstStyle/>
          <a:p>
            <a:pPr>
              <a:buNone/>
            </a:pPr>
            <a:r>
              <a:rPr lang="en-US" sz="1400" b="0" i="1" u="none">
                <a:solidFill>
                  <a:schemeClr val="dk2"/>
                </a:solidFill>
                <a:latin typeface="+mn-lt"/>
              </a:rPr>
              <a:t>What happens when AI starts thinking for itself?</a:t>
            </a:r>
          </a:p>
        </p:txBody>
      </p:sp>
      <p:sp>
        <p:nvSpPr>
          <p:cNvPr id="9" name="Text Box 2"/>
          <p:cNvSpPr txBox="1"/>
          <p:nvPr/>
        </p:nvSpPr>
        <p:spPr>
          <a:xfrm>
            <a:off x="596900" y="1016000"/>
            <a:ext cx="2540000" cy="279400"/>
          </a:xfrm>
          <a:prstGeom prst="rect">
            <a:avLst/>
          </a:prstGeom>
        </p:spPr>
        <p:txBody>
          <a:bodyPr lIns="0" tIns="0" rIns="0" bIns="0"/>
          <a:lstStyle/>
          <a:p>
            <a:pPr>
              <a:buNone/>
            </a:pPr>
            <a:r>
              <a:rPr lang="en-US" sz="900" b="1" i="0" u="none">
                <a:solidFill>
                  <a:schemeClr val="accent1"/>
                </a:solidFill>
                <a:latin typeface="+mn-lt"/>
              </a:rPr>
              <a:t>THE FUTURE IS AUTONOMOUS</a:t>
            </a:r>
          </a:p>
        </p:txBody>
      </p:sp>
      <p:sp>
        <p:nvSpPr>
          <p:cNvPr id="10" name="circle 1"/>
          <p:cNvSpPr/>
          <p:nvPr/>
        </p:nvSpPr>
        <p:spPr>
          <a:xfrm>
            <a:off x="419100" y="1066800"/>
            <a:ext cx="101600" cy="101600"/>
          </a:xfrm>
          <a:prstGeom prst="ellipse">
            <a:avLst/>
          </a:prstGeom>
          <a:solidFill>
            <a:schemeClr val="accent1"/>
          </a:solidFill>
          <a:ln w="12700">
            <a:noFill/>
          </a:ln>
        </p:spPr>
        <p:txBody>
          <a:bodyPr/>
          <a:lstStyle/>
          <a:p>
            <a:endParaRPr/>
          </a:p>
        </p:txBody>
      </p:sp>
      <p:sp>
        <p:nvSpPr>
          <p:cNvPr id="11" name="Text Box 3"/>
          <p:cNvSpPr txBox="1"/>
          <p:nvPr/>
        </p:nvSpPr>
        <p:spPr>
          <a:xfrm>
            <a:off x="419100" y="5842000"/>
            <a:ext cx="3810000" cy="279400"/>
          </a:xfrm>
          <a:prstGeom prst="rect">
            <a:avLst/>
          </a:prstGeom>
        </p:spPr>
        <p:txBody>
          <a:bodyPr lIns="0" tIns="0" rIns="0" bIns="0"/>
          <a:lstStyle/>
          <a:p>
            <a:pPr>
              <a:buNone/>
            </a:pPr>
            <a:r>
              <a:rPr lang="en-US" sz="900" b="0" i="0" u="none">
                <a:solidFill>
                  <a:srgbClr val="9CA0C5"/>
                </a:solidFill>
                <a:latin typeface="+mn-lt"/>
              </a:rPr>
              <a:t>Autonomy · Reasoning · Action · Scale</a:t>
            </a:r>
          </a:p>
        </p:txBody>
      </p:sp>
    </p:spTree>
    <p:custDataLst>
      <p:tags r:id="rId1"/>
    </p:custDataLst>
    <p:extLst>
      <p:ext uri="{BB962C8B-B14F-4D97-AF65-F5344CB8AC3E}">
        <p14:creationId xmlns:p14="http://schemas.microsoft.com/office/powerpoint/2010/main" val="342729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rectangle 1"/>
          <p:cNvSpPr/>
          <p:nvPr/>
        </p:nvSpPr>
        <p:spPr>
          <a:xfrm>
            <a:off x="4229100" y="228600"/>
            <a:ext cx="7734300" cy="6400800"/>
          </a:xfrm>
          <a:prstGeom prst="roundRect">
            <a:avLst/>
          </a:prstGeom>
          <a:solidFill>
            <a:schemeClr val="lt2"/>
          </a:solidFill>
          <a:ln w="12700">
            <a:solidFill>
              <a:srgbClr val="000000"/>
            </a:solidFill>
          </a:ln>
        </p:spPr>
        <p:txBody>
          <a:bodyPr/>
          <a:lstStyle/>
          <a:p>
            <a:endParaRPr/>
          </a:p>
        </p:txBody>
      </p:sp>
      <p:sp>
        <p:nvSpPr>
          <p:cNvPr id="3" name="Text Box 1"/>
          <p:cNvSpPr txBox="1"/>
          <p:nvPr/>
        </p:nvSpPr>
        <p:spPr>
          <a:xfrm>
            <a:off x="419100" y="254000"/>
            <a:ext cx="3581400" cy="419100"/>
          </a:xfrm>
          <a:prstGeom prst="rect">
            <a:avLst/>
          </a:prstGeom>
        </p:spPr>
        <p:txBody>
          <a:bodyPr/>
          <a:lstStyle/>
          <a:p>
            <a:pPr>
              <a:buNone/>
            </a:pPr>
            <a:r>
              <a:rPr lang="en-US" sz="1400" b="0" i="0" u="none">
                <a:solidFill>
                  <a:schemeClr val="tx2"/>
                </a:solidFill>
                <a:latin typeface="+mn-lt"/>
              </a:rPr>
              <a:t>Agenda</a:t>
            </a:r>
          </a:p>
        </p:txBody>
      </p:sp>
      <p:sp>
        <p:nvSpPr>
          <p:cNvPr id="4" name="Text Box 2"/>
          <p:cNvSpPr txBox="1"/>
          <p:nvPr/>
        </p:nvSpPr>
        <p:spPr>
          <a:xfrm>
            <a:off x="419100" y="635000"/>
            <a:ext cx="3581400" cy="2794000"/>
          </a:xfrm>
          <a:prstGeom prst="rect">
            <a:avLst/>
          </a:prstGeom>
        </p:spPr>
        <p:txBody>
          <a:bodyPr/>
          <a:lstStyle/>
          <a:p>
            <a:pPr>
              <a:buNone/>
            </a:pPr>
            <a:r>
              <a:rPr lang="en-US" sz="3600" b="1" i="0" u="none">
                <a:solidFill>
                  <a:schemeClr val="dk1"/>
                </a:solidFill>
                <a:latin typeface="+mj-lt"/>
              </a:rPr>
              <a:t>What We'll Cover</a:t>
            </a:r>
          </a:p>
        </p:txBody>
      </p:sp>
      <p:sp>
        <p:nvSpPr>
          <p:cNvPr id="5" name="Text Box 3"/>
          <p:cNvSpPr txBox="1"/>
          <p:nvPr/>
        </p:nvSpPr>
        <p:spPr>
          <a:xfrm>
            <a:off x="4699000" y="508000"/>
            <a:ext cx="698500" cy="482600"/>
          </a:xfrm>
          <a:prstGeom prst="rect">
            <a:avLst/>
          </a:prstGeom>
        </p:spPr>
        <p:txBody>
          <a:bodyPr/>
          <a:lstStyle/>
          <a:p>
            <a:pPr>
              <a:buNone/>
            </a:pPr>
            <a:r>
              <a:rPr lang="en-US" sz="2400" b="0" i="0" u="none">
                <a:solidFill>
                  <a:schemeClr val="accent1"/>
                </a:solidFill>
                <a:latin typeface="+mj-lt"/>
              </a:rPr>
              <a:t>01</a:t>
            </a:r>
          </a:p>
        </p:txBody>
      </p:sp>
      <p:sp>
        <p:nvSpPr>
          <p:cNvPr id="6" name="Text Box 4"/>
          <p:cNvSpPr txBox="1"/>
          <p:nvPr/>
        </p:nvSpPr>
        <p:spPr>
          <a:xfrm>
            <a:off x="5461000" y="457200"/>
            <a:ext cx="6032500" cy="660400"/>
          </a:xfrm>
          <a:prstGeom prst="rect">
            <a:avLst/>
          </a:prstGeom>
        </p:spPr>
        <p:txBody>
          <a:bodyPr/>
          <a:lstStyle/>
          <a:p>
            <a:pPr>
              <a:buNone/>
            </a:pPr>
            <a:r>
              <a:rPr lang="en-US" sz="1300" b="1" i="0" u="none">
                <a:solidFill>
                  <a:srgbClr val="201C20"/>
                </a:solidFill>
                <a:latin typeface="+mn-lt"/>
              </a:rPr>
              <a:t>Defining Agentic AI</a:t>
            </a:r>
          </a:p>
          <a:p>
            <a:pPr>
              <a:buNone/>
            </a:pPr>
            <a:r>
              <a:rPr lang="en-US" sz="1300" b="0" i="0" u="none">
                <a:solidFill>
                  <a:srgbClr val="201C20"/>
                </a:solidFill>
                <a:latin typeface="+mn-lt"/>
              </a:rPr>
              <a:t>What it is and the five characteristics that set it apart</a:t>
            </a:r>
          </a:p>
        </p:txBody>
      </p:sp>
      <p:sp>
        <p:nvSpPr>
          <p:cNvPr id="7" name="Text Box 5"/>
          <p:cNvSpPr txBox="1"/>
          <p:nvPr/>
        </p:nvSpPr>
        <p:spPr>
          <a:xfrm>
            <a:off x="4699000" y="1625600"/>
            <a:ext cx="698500" cy="482600"/>
          </a:xfrm>
          <a:prstGeom prst="rect">
            <a:avLst/>
          </a:prstGeom>
        </p:spPr>
        <p:txBody>
          <a:bodyPr/>
          <a:lstStyle/>
          <a:p>
            <a:pPr>
              <a:buNone/>
            </a:pPr>
            <a:r>
              <a:rPr lang="en-US" sz="2400" b="0" i="0" u="none">
                <a:solidFill>
                  <a:schemeClr val="accent1"/>
                </a:solidFill>
                <a:latin typeface="+mj-lt"/>
              </a:rPr>
              <a:t>02</a:t>
            </a:r>
          </a:p>
        </p:txBody>
      </p:sp>
      <p:sp>
        <p:nvSpPr>
          <p:cNvPr id="8" name="Text Box 6"/>
          <p:cNvSpPr txBox="1"/>
          <p:nvPr/>
        </p:nvSpPr>
        <p:spPr>
          <a:xfrm>
            <a:off x="5461000" y="1574800"/>
            <a:ext cx="6032500" cy="660400"/>
          </a:xfrm>
          <a:prstGeom prst="rect">
            <a:avLst/>
          </a:prstGeom>
        </p:spPr>
        <p:txBody>
          <a:bodyPr/>
          <a:lstStyle/>
          <a:p>
            <a:pPr>
              <a:buNone/>
            </a:pPr>
            <a:r>
              <a:rPr lang="en-US" sz="1300" b="1" i="0" u="none">
                <a:solidFill>
                  <a:srgbClr val="201C20"/>
                </a:solidFill>
                <a:latin typeface="+mn-lt"/>
              </a:rPr>
              <a:t>A New Paradigm</a:t>
            </a:r>
          </a:p>
          <a:p>
            <a:pPr>
              <a:buNone/>
            </a:pPr>
            <a:r>
              <a:rPr lang="en-US" sz="1300" b="0" i="0" u="none">
                <a:solidFill>
                  <a:srgbClr val="201C20"/>
                </a:solidFill>
                <a:latin typeface="+mn-lt"/>
              </a:rPr>
              <a:t>How agentic AI compares to traditional AI systems</a:t>
            </a:r>
          </a:p>
        </p:txBody>
      </p:sp>
      <p:sp>
        <p:nvSpPr>
          <p:cNvPr id="9" name="Text Box 7"/>
          <p:cNvSpPr txBox="1"/>
          <p:nvPr/>
        </p:nvSpPr>
        <p:spPr>
          <a:xfrm>
            <a:off x="4699000" y="2743200"/>
            <a:ext cx="698500" cy="482600"/>
          </a:xfrm>
          <a:prstGeom prst="rect">
            <a:avLst/>
          </a:prstGeom>
        </p:spPr>
        <p:txBody>
          <a:bodyPr/>
          <a:lstStyle/>
          <a:p>
            <a:pPr>
              <a:buNone/>
            </a:pPr>
            <a:r>
              <a:rPr lang="en-US" sz="2400" b="0" i="0" u="none">
                <a:solidFill>
                  <a:schemeClr val="accent1"/>
                </a:solidFill>
                <a:latin typeface="+mj-lt"/>
              </a:rPr>
              <a:t>03</a:t>
            </a:r>
          </a:p>
        </p:txBody>
      </p:sp>
      <p:sp>
        <p:nvSpPr>
          <p:cNvPr id="10" name="Text Box 8"/>
          <p:cNvSpPr txBox="1"/>
          <p:nvPr/>
        </p:nvSpPr>
        <p:spPr>
          <a:xfrm>
            <a:off x="5461000" y="2692400"/>
            <a:ext cx="6032500" cy="660400"/>
          </a:xfrm>
          <a:prstGeom prst="rect">
            <a:avLst/>
          </a:prstGeom>
        </p:spPr>
        <p:txBody>
          <a:bodyPr/>
          <a:lstStyle/>
          <a:p>
            <a:pPr>
              <a:buNone/>
            </a:pPr>
            <a:r>
              <a:rPr lang="en-US" sz="1300" b="1" i="0" u="none">
                <a:solidFill>
                  <a:srgbClr val="201C20"/>
                </a:solidFill>
                <a:latin typeface="+mn-lt"/>
              </a:rPr>
              <a:t>Real-World Applications</a:t>
            </a:r>
          </a:p>
          <a:p>
            <a:pPr>
              <a:buNone/>
            </a:pPr>
            <a:r>
              <a:rPr lang="en-US" sz="1300" b="0" i="0" u="none">
                <a:solidFill>
                  <a:srgbClr val="201C20"/>
                </a:solidFill>
                <a:latin typeface="+mn-lt"/>
              </a:rPr>
              <a:t>Industries being transformed by autonomous agents</a:t>
            </a:r>
          </a:p>
        </p:txBody>
      </p:sp>
      <p:sp>
        <p:nvSpPr>
          <p:cNvPr id="11" name="Text Box 9"/>
          <p:cNvSpPr txBox="1"/>
          <p:nvPr/>
        </p:nvSpPr>
        <p:spPr>
          <a:xfrm>
            <a:off x="4699000" y="3860800"/>
            <a:ext cx="698500" cy="482600"/>
          </a:xfrm>
          <a:prstGeom prst="rect">
            <a:avLst/>
          </a:prstGeom>
        </p:spPr>
        <p:txBody>
          <a:bodyPr/>
          <a:lstStyle/>
          <a:p>
            <a:pPr>
              <a:buNone/>
            </a:pPr>
            <a:r>
              <a:rPr lang="en-US" sz="2400" b="0" i="0" u="none">
                <a:solidFill>
                  <a:schemeClr val="accent1"/>
                </a:solidFill>
                <a:latin typeface="+mj-lt"/>
              </a:rPr>
              <a:t>04</a:t>
            </a:r>
          </a:p>
        </p:txBody>
      </p:sp>
      <p:sp>
        <p:nvSpPr>
          <p:cNvPr id="12" name="Text Box 10"/>
          <p:cNvSpPr txBox="1"/>
          <p:nvPr/>
        </p:nvSpPr>
        <p:spPr>
          <a:xfrm>
            <a:off x="5461000" y="3810000"/>
            <a:ext cx="6032500" cy="660400"/>
          </a:xfrm>
          <a:prstGeom prst="rect">
            <a:avLst/>
          </a:prstGeom>
        </p:spPr>
        <p:txBody>
          <a:bodyPr/>
          <a:lstStyle/>
          <a:p>
            <a:pPr>
              <a:buNone/>
            </a:pPr>
            <a:r>
              <a:rPr lang="en-US" sz="1300" b="1" i="0" u="none">
                <a:solidFill>
                  <a:srgbClr val="201C20"/>
                </a:solidFill>
                <a:latin typeface="+mn-lt"/>
              </a:rPr>
              <a:t>Under the Hood</a:t>
            </a:r>
          </a:p>
          <a:p>
            <a:pPr>
              <a:buNone/>
            </a:pPr>
            <a:r>
              <a:rPr lang="en-US" sz="1300" b="0" i="0" u="none">
                <a:solidFill>
                  <a:srgbClr val="201C20"/>
                </a:solidFill>
                <a:latin typeface="+mn-lt"/>
              </a:rPr>
              <a:t>The perception–reasoning–action loop and market momentum</a:t>
            </a:r>
          </a:p>
        </p:txBody>
      </p:sp>
      <p:sp>
        <p:nvSpPr>
          <p:cNvPr id="13" name="Text Box 11"/>
          <p:cNvSpPr txBox="1"/>
          <p:nvPr/>
        </p:nvSpPr>
        <p:spPr>
          <a:xfrm>
            <a:off x="4699000" y="4978400"/>
            <a:ext cx="698500" cy="482600"/>
          </a:xfrm>
          <a:prstGeom prst="rect">
            <a:avLst/>
          </a:prstGeom>
        </p:spPr>
        <p:txBody>
          <a:bodyPr/>
          <a:lstStyle/>
          <a:p>
            <a:pPr>
              <a:buNone/>
            </a:pPr>
            <a:r>
              <a:rPr lang="en-US" sz="2400" b="0" i="0" u="none">
                <a:solidFill>
                  <a:schemeClr val="accent1"/>
                </a:solidFill>
                <a:latin typeface="+mj-lt"/>
              </a:rPr>
              <a:t>05</a:t>
            </a:r>
          </a:p>
        </p:txBody>
      </p:sp>
      <p:sp>
        <p:nvSpPr>
          <p:cNvPr id="14" name="Text Box 12"/>
          <p:cNvSpPr txBox="1"/>
          <p:nvPr/>
        </p:nvSpPr>
        <p:spPr>
          <a:xfrm>
            <a:off x="5461000" y="4927600"/>
            <a:ext cx="6032500" cy="660400"/>
          </a:xfrm>
          <a:prstGeom prst="rect">
            <a:avLst/>
          </a:prstGeom>
        </p:spPr>
        <p:txBody>
          <a:bodyPr/>
          <a:lstStyle/>
          <a:p>
            <a:pPr>
              <a:buNone/>
            </a:pPr>
            <a:r>
              <a:rPr lang="en-US" sz="1300" b="1" i="0" u="none">
                <a:solidFill>
                  <a:srgbClr val="201C20"/>
                </a:solidFill>
                <a:latin typeface="+mn-lt"/>
              </a:rPr>
              <a:t>Risks, Rewards &amp; The Road Ahead</a:t>
            </a:r>
          </a:p>
          <a:p>
            <a:pPr>
              <a:buNone/>
            </a:pPr>
            <a:r>
              <a:rPr lang="en-US" sz="1300" b="0" i="0" u="none">
                <a:solidFill>
                  <a:srgbClr val="201C20"/>
                </a:solidFill>
                <a:latin typeface="+mn-lt"/>
              </a:rPr>
              <a:t>Opportunities, challenges, and the trends shaping what comes next</a:t>
            </a:r>
          </a:p>
        </p:txBody>
      </p:sp>
      <p:cxnSp>
        <p:nvCxnSpPr>
          <p:cNvPr id="15" name="Connector 1"/>
          <p:cNvCxnSpPr/>
          <p:nvPr/>
        </p:nvCxnSpPr>
        <p:spPr>
          <a:xfrm>
            <a:off x="4699000" y="1320800"/>
            <a:ext cx="6731000" cy="0"/>
          </a:xfrm>
          <a:prstGeom prst="line">
            <a:avLst/>
          </a:prstGeom>
          <a:ln w="6350">
            <a:solidFill>
              <a:srgbClr val="DDDDE5"/>
            </a:solidFill>
          </a:ln>
        </p:spPr>
      </p:cxnSp>
      <p:cxnSp>
        <p:nvCxnSpPr>
          <p:cNvPr id="16" name="Connector 2"/>
          <p:cNvCxnSpPr/>
          <p:nvPr/>
        </p:nvCxnSpPr>
        <p:spPr>
          <a:xfrm>
            <a:off x="4699000" y="2438400"/>
            <a:ext cx="6731000" cy="0"/>
          </a:xfrm>
          <a:prstGeom prst="line">
            <a:avLst/>
          </a:prstGeom>
          <a:ln w="6350">
            <a:solidFill>
              <a:srgbClr val="DDDDE5"/>
            </a:solidFill>
          </a:ln>
        </p:spPr>
      </p:cxnSp>
      <p:cxnSp>
        <p:nvCxnSpPr>
          <p:cNvPr id="17" name="Connector 3"/>
          <p:cNvCxnSpPr/>
          <p:nvPr/>
        </p:nvCxnSpPr>
        <p:spPr>
          <a:xfrm>
            <a:off x="4699000" y="3556000"/>
            <a:ext cx="6731000" cy="0"/>
          </a:xfrm>
          <a:prstGeom prst="line">
            <a:avLst/>
          </a:prstGeom>
          <a:ln w="6350">
            <a:solidFill>
              <a:srgbClr val="DDDDE5"/>
            </a:solidFill>
          </a:ln>
        </p:spPr>
      </p:cxnSp>
      <p:cxnSp>
        <p:nvCxnSpPr>
          <p:cNvPr id="18" name="Connector 4"/>
          <p:cNvCxnSpPr/>
          <p:nvPr/>
        </p:nvCxnSpPr>
        <p:spPr>
          <a:xfrm>
            <a:off x="4699000" y="4673600"/>
            <a:ext cx="6731000" cy="0"/>
          </a:xfrm>
          <a:prstGeom prst="line">
            <a:avLst/>
          </a:prstGeom>
          <a:ln w="6350">
            <a:solidFill>
              <a:srgbClr val="DDDDE5"/>
            </a:solidFill>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239795EC-E63F-7453-811C-F225D8E1FABA}"/>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sp>
        <p:nvSpPr>
          <p:cNvPr id="10" name="TextBox 9">
            <a:extLst>
              <a:ext uri="{FF2B5EF4-FFF2-40B4-BE49-F238E27FC236}">
                <a16:creationId xmlns:a16="http://schemas.microsoft.com/office/drawing/2014/main" id="{8D214FBA-F7A1-BEC6-8134-381B9057E936}"/>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dirty="0">
                <a:solidFill>
                  <a:schemeClr val="tx2"/>
                </a:solidFill>
              </a:rPr>
              <a:t>Definition</a:t>
            </a:r>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419099" y="629392"/>
            <a:ext cx="3581401" cy="2799608"/>
          </a:xfrm>
        </p:spPr>
        <p:txBody>
          <a:bodyPr vert="horz" lIns="0" tIns="45720" rIns="91440" bIns="45720" rtlCol="0" anchor="t">
            <a:normAutofit/>
          </a:bodyPr>
          <a:lstStyle/>
          <a:p>
            <a:pPr>
              <a:lnSpc>
                <a:spcPct val="90000"/>
              </a:lnSpc>
            </a:pPr>
            <a:r>
              <a:rPr lang="en-US" dirty="0"/>
              <a:t>What Is Agentic AI?</a:t>
            </a:r>
          </a:p>
        </p:txBody>
      </p:sp>
      <p:sp>
        <p:nvSpPr>
          <p:cNvPr id="4" name="Rectangle 3">
            <a:extLst>
              <a:ext uri="{FF2B5EF4-FFF2-40B4-BE49-F238E27FC236}">
                <a16:creationId xmlns:a16="http://schemas.microsoft.com/office/drawing/2014/main" id="{FD8CD5BB-34F1-17FD-1785-5B62A79C91C0}"/>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
            <a:extLst>
              <a:ext uri="{FF2B5EF4-FFF2-40B4-BE49-F238E27FC236}">
                <a16:creationId xmlns:a16="http://schemas.microsoft.com/office/drawing/2014/main" id="{DB6D63CB-3E5A-38FF-A716-15109AF58F3C}"/>
              </a:ext>
            </a:extLst>
          </p:cNvPr>
          <p:cNvSpPr>
            <a:spLocks noGrp="1" noChangeArrowheads="1"/>
          </p:cNvSpPr>
          <p:nvPr>
            <p:ph idx="1"/>
          </p:nvPr>
        </p:nvSpPr>
        <p:spPr bwMode="auto">
          <a:xfrm>
            <a:off x="4343400" y="1878762"/>
            <a:ext cx="6861815" cy="3062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noProof="1"/>
              <a:t>Reactive and prompt-driven; responds only to direct commands.</a:t>
            </a:r>
          </a:p>
          <a:p>
            <a:r>
              <a:rPr lang="en-US" noProof="1"/>
              <a:t>Operates in single-turn interactions without ongoing context.</a:t>
            </a:r>
          </a:p>
          <a:p>
            <a:r>
              <a:rPr lang="en-US" noProof="1"/>
              <a:t>Executes narrow, specific tasks with limited scope.</a:t>
            </a:r>
          </a:p>
          <a:p>
            <a:r>
              <a:rPr lang="en-US" noProof="1"/>
              <a:t>Lacks persistent memory; forgets past interactions immediately.</a:t>
            </a:r>
          </a:p>
          <a:p>
            <a:r>
              <a:rPr lang="en-US" noProof="1"/>
              <a:t>Workflows are orchestrated and supervised by humans.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ptos (Body)"/>
            </a:endParaRPr>
          </a:p>
        </p:txBody>
      </p:sp>
    </p:spTree>
    <p:extLst>
      <p:ext uri="{BB962C8B-B14F-4D97-AF65-F5344CB8AC3E}">
        <p14:creationId xmlns:p14="http://schemas.microsoft.com/office/powerpoint/2010/main" val="227247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8360-8072-D200-FB2F-19B6275146FD}"/>
            </a:ext>
          </a:extLst>
        </p:cNvPr>
        <p:cNvGrpSpPr/>
        <p:nvPr/>
      </p:nvGrpSpPr>
      <p:grpSpPr>
        <a:xfrm>
          <a:off x="0" y="0"/>
          <a:ext cx="0" cy="0"/>
          <a:chOff x="0" y="0"/>
          <a:chExt cx="0" cy="0"/>
        </a:xfrm>
      </p:grpSpPr>
      <p:sp>
        <p:nvSpPr>
          <p:cNvPr id="27" name="Rounded Rectangle 26">
            <a:extLst>
              <a:ext uri="{FF2B5EF4-FFF2-40B4-BE49-F238E27FC236}">
                <a16:creationId xmlns:a16="http://schemas.microsoft.com/office/drawing/2014/main" id="{C0401305-B936-9DE1-A2FA-DB131CFEEA66}"/>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28" name="Content Placeholder 25">
            <a:extLst>
              <a:ext uri="{FF2B5EF4-FFF2-40B4-BE49-F238E27FC236}">
                <a16:creationId xmlns:a16="http://schemas.microsoft.com/office/drawing/2014/main" id="{C1778E6F-EAFD-56A4-B7F8-CFADF2274B9F}"/>
              </a:ext>
            </a:extLst>
          </p:cNvPr>
          <p:cNvSpPr txBox="1">
            <a:spLocks/>
          </p:cNvSpPr>
          <p:nvPr>
            <p:custDataLst>
              <p:tags r:id="rId1"/>
            </p:custDataLst>
          </p:nvPr>
        </p:nvSpPr>
        <p:spPr>
          <a:xfrm>
            <a:off x="6667499" y="419100"/>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Agentic AI operates independently without requiring step-by-step human instructions, enabling it to pursue goals on its own.</a:t>
            </a:r>
          </a:p>
        </p:txBody>
      </p:sp>
      <p:sp>
        <p:nvSpPr>
          <p:cNvPr id="29" name="Text Placeholder 12">
            <a:extLst>
              <a:ext uri="{FF2B5EF4-FFF2-40B4-BE49-F238E27FC236}">
                <a16:creationId xmlns:a16="http://schemas.microsoft.com/office/drawing/2014/main" id="{077DE714-A320-1A62-88C2-08353B037736}"/>
              </a:ext>
            </a:extLst>
          </p:cNvPr>
          <p:cNvSpPr txBox="1">
            <a:spLocks/>
          </p:cNvSpPr>
          <p:nvPr>
            <p:custDataLst>
              <p:tags r:id="rId2"/>
            </p:custDataLst>
          </p:nvPr>
        </p:nvSpPr>
        <p:spPr>
          <a:xfrm>
            <a:off x="4772721" y="419099"/>
            <a:ext cx="1773852" cy="1196340"/>
          </a:xfrm>
          <a:prstGeom prst="rect">
            <a:avLst/>
          </a:prstGeom>
        </p:spPr>
        <p:txBody>
          <a:bodyPr vert="horz" lIns="9144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4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9525" algn="l" defTabSz="914354" rtl="0" eaLnBrk="1" fontAlgn="auto" latinLnBrk="0" hangingPunct="1">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effectLst/>
                <a:uLnTx/>
                <a:uFillTx/>
                <a:latin typeface="+mj-lt"/>
                <a:ea typeface="+mn-ea"/>
                <a:cs typeface="Arial" panose="020B0604020202020204" pitchFamily="34" charset="0"/>
              </a:rPr>
              <a:t>Autonomy</a:t>
            </a:r>
          </a:p>
        </p:txBody>
      </p:sp>
      <p:sp>
        <p:nvSpPr>
          <p:cNvPr id="5" name="TextBox 4">
            <a:extLst>
              <a:ext uri="{FF2B5EF4-FFF2-40B4-BE49-F238E27FC236}">
                <a16:creationId xmlns:a16="http://schemas.microsoft.com/office/drawing/2014/main" id="{23306F9C-B452-4526-C905-3ACA21D78957}"/>
              </a:ext>
            </a:extLst>
          </p:cNvPr>
          <p:cNvSpPr txBox="1"/>
          <p:nvPr>
            <p:custDataLst>
              <p:tags r:id="rId3"/>
            </p:custDataLst>
          </p:nvPr>
        </p:nvSpPr>
        <p:spPr>
          <a:xfrm>
            <a:off x="419099" y="249300"/>
            <a:ext cx="3581400" cy="414150"/>
          </a:xfrm>
          <a:prstGeom prst="rect">
            <a:avLst/>
          </a:prstGeom>
          <a:noFill/>
        </p:spPr>
        <p:txBody>
          <a:bodyPr wrap="square" lIns="0">
            <a:spAutoFit/>
          </a:bodyPr>
          <a:lstStyle/>
          <a:p>
            <a:r>
              <a:rPr lang="en-US" sz="1400" noProof="1">
                <a:solidFill>
                  <a:schemeClr val="tx2"/>
                </a:solidFill>
              </a:rPr>
              <a:t>Characteristics</a:t>
            </a:r>
          </a:p>
        </p:txBody>
      </p:sp>
      <p:sp>
        <p:nvSpPr>
          <p:cNvPr id="9" name="Title 8">
            <a:extLst>
              <a:ext uri="{FF2B5EF4-FFF2-40B4-BE49-F238E27FC236}">
                <a16:creationId xmlns:a16="http://schemas.microsoft.com/office/drawing/2014/main" id="{F2748240-BE7E-F83D-65B5-E1133D0E24EF}"/>
              </a:ext>
            </a:extLst>
          </p:cNvPr>
          <p:cNvSpPr>
            <a:spLocks noGrp="1"/>
          </p:cNvSpPr>
          <p:nvPr>
            <p:ph type="title"/>
            <p:custDataLst>
              <p:tags r:id="rId4"/>
            </p:custDataLst>
          </p:nvPr>
        </p:nvSpPr>
        <p:spPr/>
        <p:txBody>
          <a:bodyPr lIns="0">
            <a:normAutofit/>
          </a:bodyPr>
          <a:lstStyle/>
          <a:p>
            <a:r>
              <a:rPr lang="en-US" noProof="1"/>
              <a:t>Five Defining Characteristics</a:t>
            </a:r>
          </a:p>
        </p:txBody>
      </p:sp>
      <p:pic>
        <p:nvPicPr>
          <p:cNvPr id="19" name="Graphic 18">
            <a:extLst>
              <a:ext uri="{FF2B5EF4-FFF2-40B4-BE49-F238E27FC236}">
                <a16:creationId xmlns:a16="http://schemas.microsoft.com/office/drawing/2014/main" id="{6136ED8E-2D18-4131-44E0-0AA881EBB9B1}"/>
              </a:ext>
            </a:extLst>
          </p:cNvPr>
          <p:cNvPicPr>
            <a:picLocks noChangeAspect="1"/>
          </p:cNvPicPr>
          <p:nvPr>
            <p:custDataLst>
              <p:tags r:id="rId5"/>
            </p:custDataLst>
          </p:nvPr>
        </p:nvPicPr>
        <p:blipFill>
          <a:blip>
            <a:extLst>
              <a:ext uri="{96DAC541-7B7A-43D3-8B79-37D633B846F1}">
                <asvg:svgBlip xmlns:asvg="http://schemas.microsoft.com/office/drawing/2016/SVG/main" r:embed="rId20"/>
              </a:ext>
            </a:extLst>
          </a:blip>
          <a:stretch>
            <a:fillRect/>
          </a:stretch>
        </p:blipFill>
        <p:spPr>
          <a:xfrm>
            <a:off x="4423087" y="452719"/>
            <a:ext cx="274320" cy="274320"/>
          </a:xfrm>
          <a:prstGeom prst="rect">
            <a:avLst/>
          </a:prstGeom>
        </p:spPr>
      </p:pic>
      <p:pic>
        <p:nvPicPr>
          <p:cNvPr id="20" name="Graphic 19">
            <a:extLst>
              <a:ext uri="{FF2B5EF4-FFF2-40B4-BE49-F238E27FC236}">
                <a16:creationId xmlns:a16="http://schemas.microsoft.com/office/drawing/2014/main" id="{332E0426-EC91-3119-8501-7A30A7B2D006}"/>
              </a:ext>
            </a:extLst>
          </p:cNvPr>
          <p:cNvPicPr>
            <a:picLocks noChangeAspect="1"/>
          </p:cNvPicPr>
          <p:nvPr>
            <p:custDataLst>
              <p:tags r:id="rId6"/>
            </p:custDataLst>
          </p:nvPr>
        </p:nvPicPr>
        <p:blipFill>
          <a:blip>
            <a:extLst>
              <a:ext uri="{96DAC541-7B7A-43D3-8B79-37D633B846F1}">
                <asvg:svgBlip xmlns:asvg="http://schemas.microsoft.com/office/drawing/2016/SVG/main" r:embed="rId21"/>
              </a:ext>
            </a:extLst>
          </a:blip>
          <a:stretch>
            <a:fillRect/>
          </a:stretch>
        </p:blipFill>
        <p:spPr>
          <a:xfrm>
            <a:off x="4423087" y="1649060"/>
            <a:ext cx="274320" cy="274320"/>
          </a:xfrm>
          <a:prstGeom prst="rect">
            <a:avLst/>
          </a:prstGeom>
        </p:spPr>
      </p:pic>
      <p:pic>
        <p:nvPicPr>
          <p:cNvPr id="21" name="Graphic 20">
            <a:extLst>
              <a:ext uri="{FF2B5EF4-FFF2-40B4-BE49-F238E27FC236}">
                <a16:creationId xmlns:a16="http://schemas.microsoft.com/office/drawing/2014/main" id="{7ED76D45-F561-F922-0F73-DC60F2D7EB68}"/>
              </a:ext>
            </a:extLst>
          </p:cNvPr>
          <p:cNvPicPr>
            <a:picLocks noChangeAspect="1"/>
          </p:cNvPicPr>
          <p:nvPr>
            <p:custDataLst>
              <p:tags r:id="rId7"/>
            </p:custDataLst>
          </p:nvPr>
        </p:nvPicPr>
        <p:blipFill>
          <a:blip>
            <a:extLst>
              <a:ext uri="{96DAC541-7B7A-43D3-8B79-37D633B846F1}">
                <asvg:svgBlip xmlns:asvg="http://schemas.microsoft.com/office/drawing/2016/SVG/main" r:embed="rId22"/>
              </a:ext>
            </a:extLst>
          </a:blip>
          <a:stretch>
            <a:fillRect/>
          </a:stretch>
        </p:blipFill>
        <p:spPr>
          <a:xfrm>
            <a:off x="4423087" y="2845399"/>
            <a:ext cx="274320" cy="274320"/>
          </a:xfrm>
          <a:prstGeom prst="rect">
            <a:avLst/>
          </a:prstGeom>
        </p:spPr>
      </p:pic>
      <p:pic>
        <p:nvPicPr>
          <p:cNvPr id="23" name="Graphic 22">
            <a:extLst>
              <a:ext uri="{FF2B5EF4-FFF2-40B4-BE49-F238E27FC236}">
                <a16:creationId xmlns:a16="http://schemas.microsoft.com/office/drawing/2014/main" id="{D49B1617-6337-2DB5-5B9C-FC5CAEE06F5E}"/>
              </a:ext>
            </a:extLst>
          </p:cNvPr>
          <p:cNvPicPr>
            <a:picLocks noChangeAspect="1"/>
          </p:cNvPicPr>
          <p:nvPr>
            <p:custDataLst>
              <p:tags r:id="rId8"/>
            </p:custDataLst>
          </p:nvPr>
        </p:nvPicPr>
        <p:blipFill>
          <a:blip>
            <a:extLst>
              <a:ext uri="{96DAC541-7B7A-43D3-8B79-37D633B846F1}">
                <asvg:svgBlip xmlns:asvg="http://schemas.microsoft.com/office/drawing/2016/SVG/main" r:embed="rId23"/>
              </a:ext>
            </a:extLst>
          </a:blip>
          <a:stretch>
            <a:fillRect/>
          </a:stretch>
        </p:blipFill>
        <p:spPr>
          <a:xfrm>
            <a:off x="4423087" y="4041739"/>
            <a:ext cx="274320" cy="274320"/>
          </a:xfrm>
          <a:prstGeom prst="rect">
            <a:avLst/>
          </a:prstGeom>
        </p:spPr>
      </p:pic>
      <p:sp>
        <p:nvSpPr>
          <p:cNvPr id="4" name="Rectangle 3">
            <a:extLst>
              <a:ext uri="{FF2B5EF4-FFF2-40B4-BE49-F238E27FC236}">
                <a16:creationId xmlns:a16="http://schemas.microsoft.com/office/drawing/2014/main" id="{7754CA99-A5B0-9B9B-4C66-3FAF49A92F5B}"/>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pic>
        <p:nvPicPr>
          <p:cNvPr id="17" name="Graphic 16">
            <a:extLst>
              <a:ext uri="{FF2B5EF4-FFF2-40B4-BE49-F238E27FC236}">
                <a16:creationId xmlns:a16="http://schemas.microsoft.com/office/drawing/2014/main" id="{FD3019DF-E3E3-4F77-3BE3-EB1C09431841}"/>
              </a:ext>
            </a:extLst>
          </p:cNvPr>
          <p:cNvPicPr>
            <a:picLocks noChangeAspect="1"/>
          </p:cNvPicPr>
          <p:nvPr>
            <p:custDataLst>
              <p:tags r:id="rId10"/>
            </p:custDataLst>
          </p:nvPr>
        </p:nvPicPr>
        <p:blipFill>
          <a:blip>
            <a:extLst>
              <a:ext uri="{96DAC541-7B7A-43D3-8B79-37D633B846F1}">
                <asvg:svgBlip xmlns:asvg="http://schemas.microsoft.com/office/drawing/2016/SVG/main" r:embed="rId24"/>
              </a:ext>
            </a:extLst>
          </a:blip>
          <a:stretch>
            <a:fillRect/>
          </a:stretch>
        </p:blipFill>
        <p:spPr>
          <a:xfrm>
            <a:off x="4423087" y="5238078"/>
            <a:ext cx="274320" cy="274320"/>
          </a:xfrm>
          <a:prstGeom prst="rect">
            <a:avLst/>
          </a:prstGeom>
        </p:spPr>
      </p:pic>
      <p:sp>
        <p:nvSpPr>
          <p:cNvPr id="31" name="Content Placeholder 27">
            <a:extLst>
              <a:ext uri="{FF2B5EF4-FFF2-40B4-BE49-F238E27FC236}">
                <a16:creationId xmlns:a16="http://schemas.microsoft.com/office/drawing/2014/main" id="{842C9AE9-8486-3276-06BD-2C31217C7045}"/>
              </a:ext>
            </a:extLst>
          </p:cNvPr>
          <p:cNvSpPr txBox="1">
            <a:spLocks/>
          </p:cNvSpPr>
          <p:nvPr>
            <p:custDataLst>
              <p:tags r:id="rId11"/>
            </p:custDataLst>
          </p:nvPr>
        </p:nvSpPr>
        <p:spPr>
          <a:xfrm>
            <a:off x="6667499" y="1615442"/>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It breaks down complex problems into manageable parts and develops multi-step plans to achieve objectives effectively.</a:t>
            </a:r>
          </a:p>
        </p:txBody>
      </p:sp>
      <p:sp>
        <p:nvSpPr>
          <p:cNvPr id="32" name="Content Placeholder 29">
            <a:extLst>
              <a:ext uri="{FF2B5EF4-FFF2-40B4-BE49-F238E27FC236}">
                <a16:creationId xmlns:a16="http://schemas.microsoft.com/office/drawing/2014/main" id="{9C84210D-C184-C88F-C4A6-C9D43FC00021}"/>
              </a:ext>
            </a:extLst>
          </p:cNvPr>
          <p:cNvSpPr txBox="1">
            <a:spLocks/>
          </p:cNvSpPr>
          <p:nvPr>
            <p:custDataLst>
              <p:tags r:id="rId12"/>
            </p:custDataLst>
          </p:nvPr>
        </p:nvSpPr>
        <p:spPr>
          <a:xfrm>
            <a:off x="6667499" y="2811781"/>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The AI can interact with external systems like APIs, databases, and software tools to gather information and execute tasks.</a:t>
            </a:r>
          </a:p>
        </p:txBody>
      </p:sp>
      <p:sp>
        <p:nvSpPr>
          <p:cNvPr id="33" name="Text Placeholder 13">
            <a:extLst>
              <a:ext uri="{FF2B5EF4-FFF2-40B4-BE49-F238E27FC236}">
                <a16:creationId xmlns:a16="http://schemas.microsoft.com/office/drawing/2014/main" id="{38694952-4D03-9BB6-DA65-2F6AC720E617}"/>
              </a:ext>
            </a:extLst>
          </p:cNvPr>
          <p:cNvSpPr txBox="1">
            <a:spLocks/>
          </p:cNvSpPr>
          <p:nvPr>
            <p:custDataLst>
              <p:tags r:id="rId13"/>
            </p:custDataLst>
          </p:nvPr>
        </p:nvSpPr>
        <p:spPr>
          <a:xfrm>
            <a:off x="4772720" y="1615440"/>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Reasoning</a:t>
            </a:r>
          </a:p>
        </p:txBody>
      </p:sp>
      <p:sp>
        <p:nvSpPr>
          <p:cNvPr id="34" name="Text Placeholder 14">
            <a:extLst>
              <a:ext uri="{FF2B5EF4-FFF2-40B4-BE49-F238E27FC236}">
                <a16:creationId xmlns:a16="http://schemas.microsoft.com/office/drawing/2014/main" id="{AF748EAB-5605-6699-2AC9-12C29DD1267F}"/>
              </a:ext>
            </a:extLst>
          </p:cNvPr>
          <p:cNvSpPr txBox="1">
            <a:spLocks/>
          </p:cNvSpPr>
          <p:nvPr>
            <p:custDataLst>
              <p:tags r:id="rId14"/>
            </p:custDataLst>
          </p:nvPr>
        </p:nvSpPr>
        <p:spPr>
          <a:xfrm>
            <a:off x="4772720" y="2811779"/>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Tool Use</a:t>
            </a:r>
          </a:p>
        </p:txBody>
      </p:sp>
      <p:sp>
        <p:nvSpPr>
          <p:cNvPr id="35" name="Content Placeholder 29">
            <a:extLst>
              <a:ext uri="{FF2B5EF4-FFF2-40B4-BE49-F238E27FC236}">
                <a16:creationId xmlns:a16="http://schemas.microsoft.com/office/drawing/2014/main" id="{F087658A-E12C-020A-FDBE-7B1C3187630C}"/>
              </a:ext>
            </a:extLst>
          </p:cNvPr>
          <p:cNvSpPr txBox="1">
            <a:spLocks/>
          </p:cNvSpPr>
          <p:nvPr>
            <p:custDataLst>
              <p:tags r:id="rId15"/>
            </p:custDataLst>
          </p:nvPr>
        </p:nvSpPr>
        <p:spPr>
          <a:xfrm>
            <a:off x="6667499" y="4008121"/>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Agentic AI sets sub-goals and sequences actions strategically to ensure efficient progress toward its main objectives.</a:t>
            </a:r>
          </a:p>
        </p:txBody>
      </p:sp>
      <p:sp>
        <p:nvSpPr>
          <p:cNvPr id="36" name="Text Placeholder 14">
            <a:extLst>
              <a:ext uri="{FF2B5EF4-FFF2-40B4-BE49-F238E27FC236}">
                <a16:creationId xmlns:a16="http://schemas.microsoft.com/office/drawing/2014/main" id="{601453D6-4BEF-22C8-D1F5-369D240234B8}"/>
              </a:ext>
            </a:extLst>
          </p:cNvPr>
          <p:cNvSpPr txBox="1">
            <a:spLocks/>
          </p:cNvSpPr>
          <p:nvPr>
            <p:custDataLst>
              <p:tags r:id="rId16"/>
            </p:custDataLst>
          </p:nvPr>
        </p:nvSpPr>
        <p:spPr>
          <a:xfrm>
            <a:off x="4772720" y="4008119"/>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Planning</a:t>
            </a:r>
          </a:p>
        </p:txBody>
      </p:sp>
      <p:sp>
        <p:nvSpPr>
          <p:cNvPr id="37" name="Content Placeholder 29">
            <a:extLst>
              <a:ext uri="{FF2B5EF4-FFF2-40B4-BE49-F238E27FC236}">
                <a16:creationId xmlns:a16="http://schemas.microsoft.com/office/drawing/2014/main" id="{DD99CD65-D3EF-4662-EFC4-FF4BA805B183}"/>
              </a:ext>
            </a:extLst>
          </p:cNvPr>
          <p:cNvSpPr txBox="1">
            <a:spLocks/>
          </p:cNvSpPr>
          <p:nvPr>
            <p:custDataLst>
              <p:tags r:id="rId17"/>
            </p:custDataLst>
          </p:nvPr>
        </p:nvSpPr>
        <p:spPr>
          <a:xfrm>
            <a:off x="6667499" y="5204460"/>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It retains context and information across interactions, allowing it to learn from past actions and improve future decisions.</a:t>
            </a:r>
          </a:p>
        </p:txBody>
      </p:sp>
      <p:sp>
        <p:nvSpPr>
          <p:cNvPr id="38" name="Text Placeholder 14">
            <a:extLst>
              <a:ext uri="{FF2B5EF4-FFF2-40B4-BE49-F238E27FC236}">
                <a16:creationId xmlns:a16="http://schemas.microsoft.com/office/drawing/2014/main" id="{3D2E81C7-B18A-9534-845D-E06A9A2FEE00}"/>
              </a:ext>
            </a:extLst>
          </p:cNvPr>
          <p:cNvSpPr txBox="1">
            <a:spLocks/>
          </p:cNvSpPr>
          <p:nvPr>
            <p:custDataLst>
              <p:tags r:id="rId18"/>
            </p:custDataLst>
          </p:nvPr>
        </p:nvSpPr>
        <p:spPr>
          <a:xfrm>
            <a:off x="4772720" y="5204458"/>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Memory</a:t>
            </a:r>
          </a:p>
        </p:txBody>
      </p:sp>
    </p:spTree>
    <p:extLst>
      <p:ext uri="{BB962C8B-B14F-4D97-AF65-F5344CB8AC3E}">
        <p14:creationId xmlns:p14="http://schemas.microsoft.com/office/powerpoint/2010/main" val="1358101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81F42D-07C4-2F4F-2AF9-C52E74604563}"/>
              </a:ext>
            </a:extLst>
          </p:cNvPr>
          <p:cNvSpPr txBox="1">
            <a:spLocks/>
          </p:cNvSpPr>
          <p:nvPr>
            <p:custDataLst>
              <p:tags r:id="rId1"/>
            </p:custDataLst>
          </p:nvPr>
        </p:nvSpPr>
        <p:spPr>
          <a:xfrm>
            <a:off x="419099" y="650603"/>
            <a:ext cx="11353800" cy="627908"/>
          </a:xfrm>
          <a:prstGeom prst="rect">
            <a:avLst/>
          </a:prstGeom>
        </p:spPr>
        <p:txBody>
          <a:bodyPr vert="horz" lIns="0" tIns="45720" rIns="91440" bIns="45720" rtlCol="0" anchor="t">
            <a:normAutofit/>
          </a:bodyPr>
          <a:lst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a:lstStyle>
          <a:p>
            <a:r>
              <a:rPr lang="en-US" noProof="1"/>
              <a:t>Agentic AI vs. Traditional AI: A New Paradigm</a:t>
            </a:r>
          </a:p>
        </p:txBody>
      </p:sp>
      <p:sp>
        <p:nvSpPr>
          <p:cNvPr id="5" name="TextBox 4">
            <a:extLst>
              <a:ext uri="{FF2B5EF4-FFF2-40B4-BE49-F238E27FC236}">
                <a16:creationId xmlns:a16="http://schemas.microsoft.com/office/drawing/2014/main" id="{2C8D11EF-43B3-1CFF-4FDA-267994BD0F60}"/>
              </a:ext>
            </a:extLst>
          </p:cNvPr>
          <p:cNvSpPr txBox="1"/>
          <p:nvPr>
            <p:custDataLst>
              <p:tags r:id="rId2"/>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Comparison</a:t>
            </a:r>
          </a:p>
        </p:txBody>
      </p:sp>
      <p:graphicFrame>
        <p:nvGraphicFramePr>
          <p:cNvPr id="6" name="Table 5">
            <a:extLst>
              <a:ext uri="{FF2B5EF4-FFF2-40B4-BE49-F238E27FC236}">
                <a16:creationId xmlns:a16="http://schemas.microsoft.com/office/drawing/2014/main" id="{358A5DAE-27FF-CE1C-8AC9-8E86B26F99AD}"/>
              </a:ext>
            </a:extLst>
          </p:cNvPr>
          <p:cNvGraphicFramePr>
            <a:graphicFrameLocks noGrp="1"/>
          </p:cNvGraphicFramePr>
          <p:nvPr>
            <p:extLst>
              <p:ext uri="{D42A27DB-BD31-4B8C-83A1-F6EECF244321}">
                <p14:modId xmlns:p14="http://schemas.microsoft.com/office/powerpoint/2010/main" val="515565466"/>
              </p:ext>
            </p:extLst>
          </p:nvPr>
        </p:nvGraphicFramePr>
        <p:xfrm>
          <a:off x="688256" y="1434007"/>
          <a:ext cx="10825318" cy="5192439"/>
        </p:xfrm>
        <a:graphic>
          <a:graphicData uri="http://schemas.openxmlformats.org/drawingml/2006/table">
            <a:tbl>
              <a:tblPr firstRow="1" bandRow="1">
                <a:tableStyleId>{073A0DAA-6AF3-43AB-8588-CEC1D06C72B9}</a:tableStyleId>
              </a:tblPr>
              <a:tblGrid>
                <a:gridCol w="5412659">
                  <a:extLst>
                    <a:ext uri="{9D8B030D-6E8A-4147-A177-3AD203B41FA5}">
                      <a16:colId xmlns:a16="http://schemas.microsoft.com/office/drawing/2014/main" val="300309576"/>
                    </a:ext>
                  </a:extLst>
                </a:gridCol>
                <a:gridCol w="5412659">
                  <a:extLst>
                    <a:ext uri="{9D8B030D-6E8A-4147-A177-3AD203B41FA5}">
                      <a16:colId xmlns:a16="http://schemas.microsoft.com/office/drawing/2014/main" val="4123913318"/>
                    </a:ext>
                  </a:extLst>
                </a:gridCol>
              </a:tblGrid>
              <a:tr h="620439">
                <a:tc>
                  <a:txBody>
                    <a:bodyPr/>
                    <a:lstStyle/>
                    <a:p>
                      <a:pPr lvl="1" algn="ctr"/>
                      <a:r>
                        <a:rPr lang="en-US" dirty="0"/>
                        <a:t>Traditional AI</a:t>
                      </a:r>
                    </a:p>
                  </a:txBody>
                  <a:tcPr/>
                </a:tc>
                <a:tc>
                  <a:txBody>
                    <a:bodyPr/>
                    <a:lstStyle/>
                    <a:p>
                      <a:pPr algn="ctr"/>
                      <a:r>
                        <a:rPr lang="en-US" dirty="0"/>
                        <a:t>AI Agent</a:t>
                      </a:r>
                    </a:p>
                  </a:txBody>
                  <a:tcPr/>
                </a:tc>
                <a:extLst>
                  <a:ext uri="{0D108BD9-81ED-4DB2-BD59-A6C34878D82A}">
                    <a16:rowId xmlns:a16="http://schemas.microsoft.com/office/drawing/2014/main" val="2954259012"/>
                  </a:ext>
                </a:extLst>
              </a:tr>
              <a:tr h="792579">
                <a:tc>
                  <a:txBody>
                    <a:bodyPr/>
                    <a:lstStyle/>
                    <a:p>
                      <a:r>
                        <a:rPr lang="en-US" noProof="1"/>
                        <a:t>Reactive and prompt-driven; responds only to direct commands</a:t>
                      </a:r>
                      <a:endParaRPr 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Proactive and goal-driven; plans and acts autonomously.</a:t>
                      </a:r>
                    </a:p>
                    <a:p>
                      <a:endParaRPr lang="en-US" dirty="0"/>
                    </a:p>
                  </a:txBody>
                  <a:tcPr/>
                </a:tc>
                <a:extLst>
                  <a:ext uri="{0D108BD9-81ED-4DB2-BD59-A6C34878D82A}">
                    <a16:rowId xmlns:a16="http://schemas.microsoft.com/office/drawing/2014/main" val="1401905229"/>
                  </a:ext>
                </a:extLst>
              </a:tr>
              <a:tr h="79257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Operates in single-turn interactions without ongoing context.</a:t>
                      </a:r>
                    </a:p>
                    <a:p>
                      <a:endParaRPr 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Performs multi-step, long-term tasks with context retention.</a:t>
                      </a:r>
                    </a:p>
                    <a:p>
                      <a:endParaRPr lang="en-US" dirty="0"/>
                    </a:p>
                  </a:txBody>
                  <a:tcPr/>
                </a:tc>
                <a:extLst>
                  <a:ext uri="{0D108BD9-81ED-4DB2-BD59-A6C34878D82A}">
                    <a16:rowId xmlns:a16="http://schemas.microsoft.com/office/drawing/2014/main" val="2202757949"/>
                  </a:ext>
                </a:extLst>
              </a:tr>
              <a:tr h="79257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Executes narrow, specific tasks with limited scope.</a:t>
                      </a:r>
                    </a:p>
                    <a:p>
                      <a:endParaRPr 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Utilizes broad cross-tool capabilities and integrations.</a:t>
                      </a:r>
                    </a:p>
                    <a:p>
                      <a:endParaRPr lang="en-US" dirty="0"/>
                    </a:p>
                  </a:txBody>
                  <a:tcPr/>
                </a:tc>
                <a:extLst>
                  <a:ext uri="{0D108BD9-81ED-4DB2-BD59-A6C34878D82A}">
                    <a16:rowId xmlns:a16="http://schemas.microsoft.com/office/drawing/2014/main" val="2181335704"/>
                  </a:ext>
                </a:extLst>
              </a:tr>
              <a:tr h="79257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Lacks persistent memory; forgets past interactions immediately.</a:t>
                      </a:r>
                    </a:p>
                    <a:p>
                      <a:endParaRPr 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Maintains persistent memory to inform future decisions.</a:t>
                      </a:r>
                    </a:p>
                    <a:p>
                      <a:endParaRPr lang="en-US" dirty="0"/>
                    </a:p>
                  </a:txBody>
                  <a:tcPr/>
                </a:tc>
                <a:extLst>
                  <a:ext uri="{0D108BD9-81ED-4DB2-BD59-A6C34878D82A}">
                    <a16:rowId xmlns:a16="http://schemas.microsoft.com/office/drawing/2014/main" val="2754576741"/>
                  </a:ext>
                </a:extLst>
              </a:tr>
              <a:tr h="79257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Workflows are orchestrated and supervised by humans.</a:t>
                      </a:r>
                    </a:p>
                    <a:p>
                      <a:endParaRPr 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noProof="1"/>
                        <a:t>Self-orchestrates workflows with minimal human oversight.</a:t>
                      </a:r>
                    </a:p>
                    <a:p>
                      <a:endParaRPr lang="en-US" dirty="0"/>
                    </a:p>
                  </a:txBody>
                  <a:tcPr/>
                </a:tc>
                <a:extLst>
                  <a:ext uri="{0D108BD9-81ED-4DB2-BD59-A6C34878D82A}">
                    <a16:rowId xmlns:a16="http://schemas.microsoft.com/office/drawing/2014/main" val="2238471143"/>
                  </a:ext>
                </a:extLst>
              </a:tr>
            </a:tbl>
          </a:graphicData>
        </a:graphic>
      </p:graphicFrame>
    </p:spTree>
    <p:extLst>
      <p:ext uri="{BB962C8B-B14F-4D97-AF65-F5344CB8AC3E}">
        <p14:creationId xmlns:p14="http://schemas.microsoft.com/office/powerpoint/2010/main" val="3800713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A5680-0196-E0B5-345F-7FE6A3472AD7}"/>
            </a:ext>
          </a:extLst>
        </p:cNvPr>
        <p:cNvGrpSpPr/>
        <p:nvPr/>
      </p:nvGrpSpPr>
      <p:grpSpPr>
        <a:xfrm>
          <a:off x="0" y="0"/>
          <a:ext cx="0" cy="0"/>
          <a:chOff x="0" y="0"/>
          <a:chExt cx="0" cy="0"/>
        </a:xfrm>
      </p:grpSpPr>
      <p:pic>
        <p:nvPicPr>
          <p:cNvPr id="2" name="Picture Placeholder 12">
            <a:extLst>
              <a:ext uri="{FF2B5EF4-FFF2-40B4-BE49-F238E27FC236}">
                <a16:creationId xmlns:a16="http://schemas.microsoft.com/office/drawing/2014/main" id="{8F1287BE-4502-1FF9-751B-19D0B3CD00F9}"/>
              </a:ext>
            </a:extLst>
          </p:cNvPr>
          <p:cNvPicPr>
            <a:picLocks/>
          </p:cNvPicPr>
          <p:nvPr>
            <p:custDataLst>
              <p:tags r:id="rId1"/>
            </p:custDataLst>
          </p:nvPr>
        </p:nvPicPr>
        <p:blipFill rotWithShape="1">
          <a:blip r:embed="rId17" cstate="screen">
            <a:extLst>
              <a:ext uri="{28A0092B-C50C-407E-A947-70E740481C1C}">
                <a14:useLocalDpi xmlns:a14="http://schemas.microsoft.com/office/drawing/2010/main"/>
              </a:ext>
            </a:extLst>
          </a:blip>
          <a:srcRect t="7995" b="7995"/>
          <a:stretch/>
        </p:blipFill>
        <p:spPr>
          <a:xfrm>
            <a:off x="419100" y="1485899"/>
            <a:ext cx="2743200" cy="2304515"/>
          </a:xfrm>
          <a:prstGeom prst="roundRect">
            <a:avLst>
              <a:gd name="adj" fmla="val 2303"/>
            </a:avLst>
          </a:prstGeom>
        </p:spPr>
      </p:pic>
      <p:pic>
        <p:nvPicPr>
          <p:cNvPr id="3" name="Picture Placeholder 12">
            <a:extLst>
              <a:ext uri="{FF2B5EF4-FFF2-40B4-BE49-F238E27FC236}">
                <a16:creationId xmlns:a16="http://schemas.microsoft.com/office/drawing/2014/main" id="{604E0006-EE11-A5B9-A9CB-82886D2858EB}"/>
              </a:ext>
            </a:extLst>
          </p:cNvPr>
          <p:cNvPicPr>
            <a:picLocks/>
          </p:cNvPicPr>
          <p:nvPr>
            <p:custDataLst>
              <p:tags r:id="rId2"/>
            </p:custDataLst>
          </p:nvPr>
        </p:nvPicPr>
        <p:blipFill rotWithShape="1">
          <a:blip r:embed="rId18" cstate="screen">
            <a:extLst>
              <a:ext uri="{28A0092B-C50C-407E-A947-70E740481C1C}">
                <a14:useLocalDpi xmlns:a14="http://schemas.microsoft.com/office/drawing/2010/main"/>
              </a:ext>
            </a:extLst>
          </a:blip>
          <a:srcRect t="7995" b="7995"/>
          <a:stretch/>
        </p:blipFill>
        <p:spPr>
          <a:xfrm>
            <a:off x="3289300" y="1485899"/>
            <a:ext cx="2743200" cy="2304515"/>
          </a:xfrm>
          <a:prstGeom prst="roundRect">
            <a:avLst>
              <a:gd name="adj" fmla="val 2303"/>
            </a:avLst>
          </a:prstGeom>
        </p:spPr>
      </p:pic>
      <p:pic>
        <p:nvPicPr>
          <p:cNvPr id="10" name="Picture Placeholder 12">
            <a:extLst>
              <a:ext uri="{FF2B5EF4-FFF2-40B4-BE49-F238E27FC236}">
                <a16:creationId xmlns:a16="http://schemas.microsoft.com/office/drawing/2014/main" id="{3F651DE1-187D-0ACE-69EE-ED29561869CA}"/>
              </a:ext>
            </a:extLst>
          </p:cNvPr>
          <p:cNvPicPr>
            <a:picLocks/>
          </p:cNvPicPr>
          <p:nvPr>
            <p:custDataLst>
              <p:tags r:id="rId3"/>
            </p:custDataLst>
          </p:nvPr>
        </p:nvPicPr>
        <p:blipFill rotWithShape="1">
          <a:blip r:embed="rId19" cstate="screen">
            <a:extLst>
              <a:ext uri="{28A0092B-C50C-407E-A947-70E740481C1C}">
                <a14:useLocalDpi xmlns:a14="http://schemas.microsoft.com/office/drawing/2010/main"/>
              </a:ext>
            </a:extLst>
          </a:blip>
          <a:srcRect t="7995" b="7995"/>
          <a:stretch/>
        </p:blipFill>
        <p:spPr>
          <a:xfrm>
            <a:off x="6159500" y="1485899"/>
            <a:ext cx="2743200" cy="2304515"/>
          </a:xfrm>
          <a:prstGeom prst="roundRect">
            <a:avLst>
              <a:gd name="adj" fmla="val 2303"/>
            </a:avLst>
          </a:prstGeom>
        </p:spPr>
      </p:pic>
      <p:pic>
        <p:nvPicPr>
          <p:cNvPr id="11" name="Picture Placeholder 12">
            <a:extLst>
              <a:ext uri="{FF2B5EF4-FFF2-40B4-BE49-F238E27FC236}">
                <a16:creationId xmlns:a16="http://schemas.microsoft.com/office/drawing/2014/main" id="{3DAF411F-1834-79A6-23EA-0729B50992D9}"/>
              </a:ext>
            </a:extLst>
          </p:cNvPr>
          <p:cNvPicPr>
            <a:picLocks/>
          </p:cNvPicPr>
          <p:nvPr>
            <p:custDataLst>
              <p:tags r:id="rId4"/>
            </p:custDataLst>
          </p:nvPr>
        </p:nvPicPr>
        <p:blipFill rotWithShape="1">
          <a:blip r:embed="rId20" cstate="screen">
            <a:extLst>
              <a:ext uri="{28A0092B-C50C-407E-A947-70E740481C1C}">
                <a14:useLocalDpi xmlns:a14="http://schemas.microsoft.com/office/drawing/2010/main"/>
              </a:ext>
            </a:extLst>
          </a:blip>
          <a:srcRect t="7995" b="7995"/>
          <a:stretch/>
        </p:blipFill>
        <p:spPr>
          <a:xfrm>
            <a:off x="9029700" y="1495731"/>
            <a:ext cx="2743200" cy="2304515"/>
          </a:xfrm>
          <a:prstGeom prst="roundRect">
            <a:avLst>
              <a:gd name="adj" fmla="val 2303"/>
            </a:avLst>
          </a:prstGeom>
        </p:spPr>
      </p:pic>
      <p:sp>
        <p:nvSpPr>
          <p:cNvPr id="9" name="Title 8">
            <a:extLst>
              <a:ext uri="{FF2B5EF4-FFF2-40B4-BE49-F238E27FC236}">
                <a16:creationId xmlns:a16="http://schemas.microsoft.com/office/drawing/2014/main" id="{1D1BC0F8-D935-EA33-C8AF-C53DC2702B7A}"/>
              </a:ext>
            </a:extLst>
          </p:cNvPr>
          <p:cNvSpPr>
            <a:spLocks noGrp="1"/>
          </p:cNvSpPr>
          <p:nvPr>
            <p:ph type="title"/>
            <p:custDataLst>
              <p:tags r:id="rId5"/>
            </p:custDataLst>
          </p:nvPr>
        </p:nvSpPr>
        <p:spPr/>
        <p:txBody>
          <a:bodyPr lIns="0">
            <a:normAutofit/>
          </a:bodyPr>
          <a:lstStyle/>
          <a:p>
            <a:r>
              <a:rPr lang="en-US" dirty="0"/>
              <a:t>Real-World Applications Transforming Industries</a:t>
            </a:r>
          </a:p>
        </p:txBody>
      </p:sp>
      <p:sp>
        <p:nvSpPr>
          <p:cNvPr id="16" name="Rectangle 15">
            <a:extLst>
              <a:ext uri="{FF2B5EF4-FFF2-40B4-BE49-F238E27FC236}">
                <a16:creationId xmlns:a16="http://schemas.microsoft.com/office/drawing/2014/main" id="{67445782-E0D7-8CDE-B8B6-BD55C498AC77}"/>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18" name="TextBox 17">
            <a:extLst>
              <a:ext uri="{FF2B5EF4-FFF2-40B4-BE49-F238E27FC236}">
                <a16:creationId xmlns:a16="http://schemas.microsoft.com/office/drawing/2014/main" id="{1A510C80-43EC-B908-6676-F461623B2844}"/>
              </a:ext>
            </a:extLst>
          </p:cNvPr>
          <p:cNvSpPr txBox="1"/>
          <p:nvPr>
            <p:custDataLst>
              <p:tags r:id="rId7"/>
            </p:custDataLst>
          </p:nvPr>
        </p:nvSpPr>
        <p:spPr>
          <a:xfrm>
            <a:off x="419099" y="249300"/>
            <a:ext cx="3581400" cy="414150"/>
          </a:xfrm>
          <a:prstGeom prst="rect">
            <a:avLst/>
          </a:prstGeom>
          <a:noFill/>
        </p:spPr>
        <p:txBody>
          <a:bodyPr wrap="square" lIns="0">
            <a:spAutoFit/>
          </a:bodyPr>
          <a:lstStyle/>
          <a:p>
            <a:r>
              <a:rPr lang="en-US" sz="1400" noProof="1">
                <a:solidFill>
                  <a:schemeClr val="tx2"/>
                </a:solidFill>
              </a:rPr>
              <a:t>Applications</a:t>
            </a:r>
          </a:p>
        </p:txBody>
      </p:sp>
      <p:sp>
        <p:nvSpPr>
          <p:cNvPr id="23" name="Content Placeholder 9">
            <a:extLst>
              <a:ext uri="{FF2B5EF4-FFF2-40B4-BE49-F238E27FC236}">
                <a16:creationId xmlns:a16="http://schemas.microsoft.com/office/drawing/2014/main" id="{6FFBDAE7-BE06-D81E-D37C-87B4CCC8B20B}"/>
              </a:ext>
            </a:extLst>
          </p:cNvPr>
          <p:cNvSpPr txBox="1">
            <a:spLocks/>
          </p:cNvSpPr>
          <p:nvPr>
            <p:custDataLst>
              <p:tags r:id="rId8"/>
            </p:custDataLst>
          </p:nvPr>
        </p:nvSpPr>
        <p:spPr>
          <a:xfrm>
            <a:off x="419100" y="4492487"/>
            <a:ext cx="2743200" cy="180163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Autonomous agents resolve support tickets, escalate complex issues, and personalize responses for seamless customer experiences.</a:t>
            </a:r>
          </a:p>
        </p:txBody>
      </p:sp>
      <p:sp>
        <p:nvSpPr>
          <p:cNvPr id="24" name="Content Placeholder 10">
            <a:extLst>
              <a:ext uri="{FF2B5EF4-FFF2-40B4-BE49-F238E27FC236}">
                <a16:creationId xmlns:a16="http://schemas.microsoft.com/office/drawing/2014/main" id="{4C90E421-B36A-47B0-D5B8-1EF4BFE55F22}"/>
              </a:ext>
            </a:extLst>
          </p:cNvPr>
          <p:cNvSpPr txBox="1">
            <a:spLocks/>
          </p:cNvSpPr>
          <p:nvPr>
            <p:custDataLst>
              <p:tags r:id="rId9"/>
            </p:custDataLst>
          </p:nvPr>
        </p:nvSpPr>
        <p:spPr>
          <a:xfrm>
            <a:off x="3289300" y="4492487"/>
            <a:ext cx="2743200" cy="180163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AI agents autonomously write, test, debug, and deploy code, accelerating development cycles with minimal human intervention.</a:t>
            </a:r>
          </a:p>
        </p:txBody>
      </p:sp>
      <p:sp>
        <p:nvSpPr>
          <p:cNvPr id="25" name="Text Placeholder 12">
            <a:extLst>
              <a:ext uri="{FF2B5EF4-FFF2-40B4-BE49-F238E27FC236}">
                <a16:creationId xmlns:a16="http://schemas.microsoft.com/office/drawing/2014/main" id="{53E8FAC0-EA09-99B0-1CCE-F2B7773DD548}"/>
              </a:ext>
            </a:extLst>
          </p:cNvPr>
          <p:cNvSpPr txBox="1">
            <a:spLocks/>
          </p:cNvSpPr>
          <p:nvPr>
            <p:custDataLst>
              <p:tags r:id="rId10"/>
            </p:custDataLst>
          </p:nvPr>
        </p:nvSpPr>
        <p:spPr>
          <a:xfrm>
            <a:off x="419100" y="3992387"/>
            <a:ext cx="2743200" cy="493776"/>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tx2"/>
                </a:solidFill>
                <a:effectLst/>
                <a:uLnTx/>
                <a:uFillTx/>
                <a:ea typeface="+mn-ea"/>
                <a:cs typeface="Arial" panose="020B0604020202020204" pitchFamily="34" charset="0"/>
              </a:rPr>
              <a:t>Customer Service</a:t>
            </a:r>
          </a:p>
        </p:txBody>
      </p:sp>
      <p:sp>
        <p:nvSpPr>
          <p:cNvPr id="26" name="Text Placeholder 13">
            <a:extLst>
              <a:ext uri="{FF2B5EF4-FFF2-40B4-BE49-F238E27FC236}">
                <a16:creationId xmlns:a16="http://schemas.microsoft.com/office/drawing/2014/main" id="{F041C6EA-F90B-1339-2C6B-B230628A83A3}"/>
              </a:ext>
            </a:extLst>
          </p:cNvPr>
          <p:cNvSpPr txBox="1">
            <a:spLocks/>
          </p:cNvSpPr>
          <p:nvPr>
            <p:custDataLst>
              <p:tags r:id="rId11"/>
            </p:custDataLst>
          </p:nvPr>
        </p:nvSpPr>
        <p:spPr>
          <a:xfrm>
            <a:off x="3289300" y="3992387"/>
            <a:ext cx="2743200" cy="493776"/>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tx2"/>
                </a:solidFill>
                <a:effectLst/>
                <a:uLnTx/>
                <a:uFillTx/>
                <a:ea typeface="+mn-ea"/>
                <a:cs typeface="Arial" panose="020B0604020202020204" pitchFamily="34" charset="0"/>
              </a:rPr>
              <a:t>Software Development</a:t>
            </a:r>
          </a:p>
        </p:txBody>
      </p:sp>
      <p:sp>
        <p:nvSpPr>
          <p:cNvPr id="27" name="Content Placeholder 11">
            <a:extLst>
              <a:ext uri="{FF2B5EF4-FFF2-40B4-BE49-F238E27FC236}">
                <a16:creationId xmlns:a16="http://schemas.microsoft.com/office/drawing/2014/main" id="{B2F057C0-D011-7F35-538F-5DF84CDD8D1A}"/>
              </a:ext>
            </a:extLst>
          </p:cNvPr>
          <p:cNvSpPr txBox="1">
            <a:spLocks/>
          </p:cNvSpPr>
          <p:nvPr>
            <p:custDataLst>
              <p:tags r:id="rId12"/>
            </p:custDataLst>
          </p:nvPr>
        </p:nvSpPr>
        <p:spPr>
          <a:xfrm>
            <a:off x="6159500" y="4492487"/>
            <a:ext cx="2743200" cy="180163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Agents gather data autonomously, synthesize insights, and generate comprehensive reports for informed decision-making.</a:t>
            </a:r>
          </a:p>
        </p:txBody>
      </p:sp>
      <p:sp>
        <p:nvSpPr>
          <p:cNvPr id="28" name="Content Placeholder 1">
            <a:extLst>
              <a:ext uri="{FF2B5EF4-FFF2-40B4-BE49-F238E27FC236}">
                <a16:creationId xmlns:a16="http://schemas.microsoft.com/office/drawing/2014/main" id="{0F036CE8-07AE-65F3-6289-C091243D6DD7}"/>
              </a:ext>
            </a:extLst>
          </p:cNvPr>
          <p:cNvSpPr txBox="1">
            <a:spLocks/>
          </p:cNvSpPr>
          <p:nvPr>
            <p:custDataLst>
              <p:tags r:id="rId13"/>
            </p:custDataLst>
          </p:nvPr>
        </p:nvSpPr>
        <p:spPr>
          <a:xfrm>
            <a:off x="9029700" y="4492487"/>
            <a:ext cx="2743200" cy="180163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Agents manage workflows, schedule tasks, and coordinate across enterprise systems to optimize operational efficiency.</a:t>
            </a:r>
          </a:p>
        </p:txBody>
      </p:sp>
      <p:sp>
        <p:nvSpPr>
          <p:cNvPr id="29" name="Text Placeholder 14">
            <a:extLst>
              <a:ext uri="{FF2B5EF4-FFF2-40B4-BE49-F238E27FC236}">
                <a16:creationId xmlns:a16="http://schemas.microsoft.com/office/drawing/2014/main" id="{D929291F-ECFD-DA05-C33E-0E050C27AF3F}"/>
              </a:ext>
            </a:extLst>
          </p:cNvPr>
          <p:cNvSpPr txBox="1">
            <a:spLocks/>
          </p:cNvSpPr>
          <p:nvPr>
            <p:custDataLst>
              <p:tags r:id="rId14"/>
            </p:custDataLst>
          </p:nvPr>
        </p:nvSpPr>
        <p:spPr>
          <a:xfrm>
            <a:off x="6159500" y="3992387"/>
            <a:ext cx="2743200" cy="493776"/>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tx2"/>
                </a:solidFill>
                <a:effectLst/>
                <a:uLnTx/>
                <a:uFillTx/>
                <a:ea typeface="+mn-ea"/>
                <a:cs typeface="Arial" panose="020B0604020202020204" pitchFamily="34" charset="0"/>
              </a:rPr>
              <a:t>Research &amp; Analysis</a:t>
            </a:r>
          </a:p>
        </p:txBody>
      </p:sp>
      <p:sp>
        <p:nvSpPr>
          <p:cNvPr id="30" name="Text Placeholder 2">
            <a:extLst>
              <a:ext uri="{FF2B5EF4-FFF2-40B4-BE49-F238E27FC236}">
                <a16:creationId xmlns:a16="http://schemas.microsoft.com/office/drawing/2014/main" id="{062E8BEC-E99F-FA27-25B5-599703C89A15}"/>
              </a:ext>
            </a:extLst>
          </p:cNvPr>
          <p:cNvSpPr txBox="1">
            <a:spLocks/>
          </p:cNvSpPr>
          <p:nvPr>
            <p:custDataLst>
              <p:tags r:id="rId15"/>
            </p:custDataLst>
          </p:nvPr>
        </p:nvSpPr>
        <p:spPr>
          <a:xfrm>
            <a:off x="9029700" y="3992387"/>
            <a:ext cx="2743200" cy="493776"/>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tx2"/>
                </a:solidFill>
                <a:effectLst/>
                <a:uLnTx/>
                <a:uFillTx/>
                <a:ea typeface="+mn-ea"/>
                <a:cs typeface="Arial" panose="020B0604020202020204" pitchFamily="34" charset="0"/>
              </a:rPr>
              <a:t>Business Operations</a:t>
            </a:r>
          </a:p>
        </p:txBody>
      </p:sp>
    </p:spTree>
    <p:extLst>
      <p:ext uri="{BB962C8B-B14F-4D97-AF65-F5344CB8AC3E}">
        <p14:creationId xmlns:p14="http://schemas.microsoft.com/office/powerpoint/2010/main" val="2630299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412F-B94E-1721-9826-9D2FC2FE7868}"/>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8CE996F9-708B-FF4E-B839-0418FE1BC240}"/>
              </a:ext>
            </a:extLst>
          </p:cNvPr>
          <p:cNvSpPr/>
          <p:nvPr/>
        </p:nvSpPr>
        <p:spPr>
          <a:xfrm>
            <a:off x="228600" y="1485900"/>
            <a:ext cx="3767328" cy="4742622"/>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21" name="Rounded Rectangle 20">
            <a:extLst>
              <a:ext uri="{FF2B5EF4-FFF2-40B4-BE49-F238E27FC236}">
                <a16:creationId xmlns:a16="http://schemas.microsoft.com/office/drawing/2014/main" id="{CB35B296-3D3F-80FE-B22B-42C429BD3087}"/>
              </a:ext>
            </a:extLst>
          </p:cNvPr>
          <p:cNvSpPr/>
          <p:nvPr/>
        </p:nvSpPr>
        <p:spPr>
          <a:xfrm>
            <a:off x="4212336" y="1485900"/>
            <a:ext cx="3767328" cy="4742622"/>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22" name="Rounded Rectangle 21">
            <a:extLst>
              <a:ext uri="{FF2B5EF4-FFF2-40B4-BE49-F238E27FC236}">
                <a16:creationId xmlns:a16="http://schemas.microsoft.com/office/drawing/2014/main" id="{3CE8D8DB-CB7B-B086-2D99-EB1AFB559BD2}"/>
              </a:ext>
            </a:extLst>
          </p:cNvPr>
          <p:cNvSpPr/>
          <p:nvPr/>
        </p:nvSpPr>
        <p:spPr>
          <a:xfrm>
            <a:off x="8196072" y="1485900"/>
            <a:ext cx="3767328" cy="4742622"/>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9" name="Title 8">
            <a:extLst>
              <a:ext uri="{FF2B5EF4-FFF2-40B4-BE49-F238E27FC236}">
                <a16:creationId xmlns:a16="http://schemas.microsoft.com/office/drawing/2014/main" id="{276FC2E3-0DA6-6198-B832-421294180057}"/>
              </a:ext>
            </a:extLst>
          </p:cNvPr>
          <p:cNvSpPr>
            <a:spLocks noGrp="1"/>
          </p:cNvSpPr>
          <p:nvPr>
            <p:ph type="title"/>
            <p:custDataLst>
              <p:tags r:id="rId1"/>
            </p:custDataLst>
          </p:nvPr>
        </p:nvSpPr>
        <p:spPr/>
        <p:txBody>
          <a:bodyPr lIns="0">
            <a:normAutofit/>
          </a:bodyPr>
          <a:lstStyle/>
          <a:p>
            <a:r>
              <a:rPr lang="en-US" noProof="1"/>
              <a:t>How Agentic AI Works: The Perception–Reasoning–Action Loop</a:t>
            </a:r>
          </a:p>
        </p:txBody>
      </p:sp>
      <p:sp>
        <p:nvSpPr>
          <p:cNvPr id="8" name="Rectangle 7">
            <a:extLst>
              <a:ext uri="{FF2B5EF4-FFF2-40B4-BE49-F238E27FC236}">
                <a16:creationId xmlns:a16="http://schemas.microsoft.com/office/drawing/2014/main" id="{1D777B94-42A0-E8DB-35C8-BD1942F383FB}"/>
              </a:ext>
            </a:extLst>
          </p:cNvPr>
          <p:cNvSpPr/>
          <p:nvPr>
            <p:custDataLst>
              <p:tags r:id="rId2"/>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
        <p:nvSpPr>
          <p:cNvPr id="24" name="TextBox 23">
            <a:extLst>
              <a:ext uri="{FF2B5EF4-FFF2-40B4-BE49-F238E27FC236}">
                <a16:creationId xmlns:a16="http://schemas.microsoft.com/office/drawing/2014/main" id="{91203042-77A5-8D02-D132-71D2B8FBC5F3}"/>
              </a:ext>
            </a:extLst>
          </p:cNvPr>
          <p:cNvSpPr txBox="1"/>
          <p:nvPr>
            <p:custDataLst>
              <p:tags r:id="rId3"/>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Mechanism</a:t>
            </a:r>
          </a:p>
        </p:txBody>
      </p:sp>
      <p:sp>
        <p:nvSpPr>
          <p:cNvPr id="34" name="Content Placeholder 9">
            <a:extLst>
              <a:ext uri="{FF2B5EF4-FFF2-40B4-BE49-F238E27FC236}">
                <a16:creationId xmlns:a16="http://schemas.microsoft.com/office/drawing/2014/main" id="{96B9130D-68B5-8A17-AB29-075163EB95F7}"/>
              </a:ext>
            </a:extLst>
          </p:cNvPr>
          <p:cNvSpPr txBox="1">
            <a:spLocks/>
          </p:cNvSpPr>
          <p:nvPr>
            <p:custDataLst>
              <p:tags r:id="rId4"/>
            </p:custDataLst>
          </p:nvPr>
        </p:nvSpPr>
        <p:spPr>
          <a:xfrm>
            <a:off x="419099" y="2577616"/>
            <a:ext cx="3398553" cy="1931368"/>
          </a:xfrm>
          <a:prstGeom prst="rect">
            <a:avLst/>
          </a:prstGeom>
        </p:spPr>
        <p:txBody>
          <a:bodyPr vert="horz" lIns="0" tIns="45720" rIns="91440" bIns="45720" rtlCol="0">
            <a:normAutofit/>
          </a:bodyPr>
          <a:lstStyle>
            <a:lvl1pPr marL="11113" indent="0" defTabSz="914354">
              <a:lnSpc>
                <a:spcPct val="114000"/>
              </a:lnSpc>
              <a:spcBef>
                <a:spcPts val="1000"/>
              </a:spcBef>
              <a:buFont typeface="Arial" panose="020B0604020202020204" pitchFamily="34" charset="0"/>
              <a:buNone/>
              <a:tabLst/>
              <a:defRPr sz="1600">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sz="1400" noProof="1"/>
              <a:t>The agent gathers inputs like user commands, data feeds, tool outputs, and memory to build situational awareness.</a:t>
            </a:r>
          </a:p>
        </p:txBody>
      </p:sp>
      <p:sp>
        <p:nvSpPr>
          <p:cNvPr id="35" name="Content Placeholder 10">
            <a:extLst>
              <a:ext uri="{FF2B5EF4-FFF2-40B4-BE49-F238E27FC236}">
                <a16:creationId xmlns:a16="http://schemas.microsoft.com/office/drawing/2014/main" id="{D6076639-5DF0-2BB7-8522-53F7B969404F}"/>
              </a:ext>
            </a:extLst>
          </p:cNvPr>
          <p:cNvSpPr txBox="1">
            <a:spLocks/>
          </p:cNvSpPr>
          <p:nvPr>
            <p:custDataLst>
              <p:tags r:id="rId5"/>
            </p:custDataLst>
          </p:nvPr>
        </p:nvSpPr>
        <p:spPr>
          <a:xfrm>
            <a:off x="4396723" y="2577616"/>
            <a:ext cx="3398553" cy="1931368"/>
          </a:xfrm>
          <a:prstGeom prst="rect">
            <a:avLst/>
          </a:prstGeom>
        </p:spPr>
        <p:txBody>
          <a:bodyPr vert="horz" lIns="0" tIns="45720" rIns="91440" bIns="45720" rtlCol="0">
            <a:normAutofit/>
          </a:bodyPr>
          <a:lstStyle>
            <a:lvl1pPr marL="11113" indent="0" defTabSz="914354">
              <a:lnSpc>
                <a:spcPct val="114000"/>
              </a:lnSpc>
              <a:spcBef>
                <a:spcPts val="1000"/>
              </a:spcBef>
              <a:buFont typeface="Arial" panose="020B0604020202020204" pitchFamily="34" charset="0"/>
              <a:buNone/>
              <a:tabLst/>
              <a:defRPr sz="1600">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sz="1400" noProof="1"/>
              <a:t>The agent uses an LLM-powered engine to break down goals, evaluate options, and sequence actions into a plan.</a:t>
            </a:r>
          </a:p>
        </p:txBody>
      </p:sp>
      <p:sp>
        <p:nvSpPr>
          <p:cNvPr id="36" name="Content Placeholder 11">
            <a:extLst>
              <a:ext uri="{FF2B5EF4-FFF2-40B4-BE49-F238E27FC236}">
                <a16:creationId xmlns:a16="http://schemas.microsoft.com/office/drawing/2014/main" id="{BBF7D3BE-B1D1-86B1-D75B-49372104F439}"/>
              </a:ext>
            </a:extLst>
          </p:cNvPr>
          <p:cNvSpPr txBox="1">
            <a:spLocks/>
          </p:cNvSpPr>
          <p:nvPr>
            <p:custDataLst>
              <p:tags r:id="rId6"/>
            </p:custDataLst>
          </p:nvPr>
        </p:nvSpPr>
        <p:spPr>
          <a:xfrm>
            <a:off x="8380459" y="2577616"/>
            <a:ext cx="3398553" cy="1931368"/>
          </a:xfrm>
          <a:prstGeom prst="rect">
            <a:avLst/>
          </a:prstGeom>
        </p:spPr>
        <p:txBody>
          <a:bodyPr vert="horz" lIns="0" tIns="45720" rIns="91440" bIns="45720" rtlCol="0">
            <a:normAutofit/>
          </a:bodyPr>
          <a:lstStyle>
            <a:lvl1pPr marL="11113" indent="0" defTabSz="914354">
              <a:lnSpc>
                <a:spcPct val="114000"/>
              </a:lnSpc>
              <a:spcBef>
                <a:spcPts val="1000"/>
              </a:spcBef>
              <a:buFont typeface="Arial" panose="020B0604020202020204" pitchFamily="34" charset="0"/>
              <a:buNone/>
              <a:tabLst/>
              <a:defRPr sz="1600">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sz="1400" noProof="1"/>
              <a:t>The agent executes actions (API calls, code, searches), monitors results, learns from feedback, and updates its strategy.</a:t>
            </a:r>
          </a:p>
        </p:txBody>
      </p:sp>
      <p:sp>
        <p:nvSpPr>
          <p:cNvPr id="37" name="Text Placeholder 12">
            <a:extLst>
              <a:ext uri="{FF2B5EF4-FFF2-40B4-BE49-F238E27FC236}">
                <a16:creationId xmlns:a16="http://schemas.microsoft.com/office/drawing/2014/main" id="{A24B2E40-D552-2297-5EF4-57567D8195A4}"/>
              </a:ext>
            </a:extLst>
          </p:cNvPr>
          <p:cNvSpPr txBox="1">
            <a:spLocks/>
          </p:cNvSpPr>
          <p:nvPr>
            <p:custDataLst>
              <p:tags r:id="rId7"/>
            </p:custDataLst>
          </p:nvPr>
        </p:nvSpPr>
        <p:spPr>
          <a:xfrm>
            <a:off x="419099" y="2095017"/>
            <a:ext cx="3398553" cy="482600"/>
          </a:xfrm>
          <a:prstGeom prst="rect">
            <a:avLst/>
          </a:prstGeom>
        </p:spPr>
        <p:txBody>
          <a:bodyPr vert="horz" lIns="0" tIns="45720" rIns="91440" bIns="45720" rtlCol="0" anchor="t">
            <a:noAutofit/>
          </a:bodyPr>
          <a:lstStyle>
            <a:lvl1pPr indent="9525" defTabSz="914354">
              <a:lnSpc>
                <a:spcPct val="100000"/>
              </a:lnSpc>
              <a:spcBef>
                <a:spcPts val="1200"/>
              </a:spcBef>
              <a:buFont typeface="Arial" panose="020B0604020202020204" pitchFamily="34" charset="0"/>
              <a:buNone/>
              <a:tabLst/>
              <a:defRPr b="1">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sz="1600" noProof="1"/>
              <a:t>Perceive</a:t>
            </a:r>
          </a:p>
        </p:txBody>
      </p:sp>
      <p:sp>
        <p:nvSpPr>
          <p:cNvPr id="38" name="Text Placeholder 13">
            <a:extLst>
              <a:ext uri="{FF2B5EF4-FFF2-40B4-BE49-F238E27FC236}">
                <a16:creationId xmlns:a16="http://schemas.microsoft.com/office/drawing/2014/main" id="{C88D12C6-5F96-914D-819E-A0415FDCDA9D}"/>
              </a:ext>
            </a:extLst>
          </p:cNvPr>
          <p:cNvSpPr txBox="1">
            <a:spLocks/>
          </p:cNvSpPr>
          <p:nvPr>
            <p:custDataLst>
              <p:tags r:id="rId8"/>
            </p:custDataLst>
          </p:nvPr>
        </p:nvSpPr>
        <p:spPr>
          <a:xfrm>
            <a:off x="4396723" y="2095017"/>
            <a:ext cx="3398553" cy="482600"/>
          </a:xfrm>
          <a:prstGeom prst="rect">
            <a:avLst/>
          </a:prstGeom>
        </p:spPr>
        <p:txBody>
          <a:bodyPr vert="horz" lIns="0" tIns="45720" rIns="91440" bIns="45720" rtlCol="0" anchor="t">
            <a:noAutofit/>
          </a:bodyPr>
          <a:lstStyle>
            <a:lvl1pPr indent="9525" defTabSz="914354">
              <a:lnSpc>
                <a:spcPct val="100000"/>
              </a:lnSpc>
              <a:spcBef>
                <a:spcPts val="1200"/>
              </a:spcBef>
              <a:buFont typeface="Arial" panose="020B0604020202020204" pitchFamily="34" charset="0"/>
              <a:buNone/>
              <a:tabLst/>
              <a:defRPr b="1">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sz="1600" noProof="1"/>
              <a:t>Reason &amp; Plan</a:t>
            </a:r>
          </a:p>
        </p:txBody>
      </p:sp>
      <p:sp>
        <p:nvSpPr>
          <p:cNvPr id="39" name="Text Placeholder 14">
            <a:extLst>
              <a:ext uri="{FF2B5EF4-FFF2-40B4-BE49-F238E27FC236}">
                <a16:creationId xmlns:a16="http://schemas.microsoft.com/office/drawing/2014/main" id="{90A269DA-1629-446B-B67E-EB62B1810467}"/>
              </a:ext>
            </a:extLst>
          </p:cNvPr>
          <p:cNvSpPr txBox="1">
            <a:spLocks/>
          </p:cNvSpPr>
          <p:nvPr>
            <p:custDataLst>
              <p:tags r:id="rId9"/>
            </p:custDataLst>
          </p:nvPr>
        </p:nvSpPr>
        <p:spPr>
          <a:xfrm>
            <a:off x="8380459" y="2095017"/>
            <a:ext cx="3398553" cy="482600"/>
          </a:xfrm>
          <a:prstGeom prst="rect">
            <a:avLst/>
          </a:prstGeom>
        </p:spPr>
        <p:txBody>
          <a:bodyPr vert="horz" lIns="0" tIns="45720" rIns="91440" bIns="45720" rtlCol="0" anchor="t">
            <a:noAutofit/>
          </a:bodyPr>
          <a:lstStyle>
            <a:lvl1pPr indent="9525" defTabSz="914354">
              <a:lnSpc>
                <a:spcPct val="100000"/>
              </a:lnSpc>
              <a:spcBef>
                <a:spcPts val="1200"/>
              </a:spcBef>
              <a:buFont typeface="Arial" panose="020B0604020202020204" pitchFamily="34" charset="0"/>
              <a:buNone/>
              <a:tabLst/>
              <a:defRPr b="1">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sz="1600" noProof="1"/>
              <a:t>Act &amp; Reflect</a:t>
            </a:r>
          </a:p>
        </p:txBody>
      </p:sp>
      <p:sp>
        <p:nvSpPr>
          <p:cNvPr id="40" name="Content Placeholder 9">
            <a:extLst>
              <a:ext uri="{FF2B5EF4-FFF2-40B4-BE49-F238E27FC236}">
                <a16:creationId xmlns:a16="http://schemas.microsoft.com/office/drawing/2014/main" id="{0B050CB5-E348-5105-FB80-E24854CCE538}"/>
              </a:ext>
            </a:extLst>
          </p:cNvPr>
          <p:cNvSpPr txBox="1">
            <a:spLocks/>
          </p:cNvSpPr>
          <p:nvPr>
            <p:custDataLst>
              <p:tags r:id="rId10"/>
            </p:custDataLst>
          </p:nvPr>
        </p:nvSpPr>
        <p:spPr>
          <a:xfrm>
            <a:off x="419099" y="4508984"/>
            <a:ext cx="3398553" cy="1577916"/>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200"/>
              </a:spcAft>
            </a:pPr>
            <a:r>
              <a:rPr lang="en-US" sz="1400" noProof="1">
                <a:solidFill>
                  <a:schemeClr val="tx2"/>
                </a:solidFill>
                <a:latin typeface="+mn-lt"/>
              </a:rPr>
              <a:t>Input aggregation</a:t>
            </a:r>
          </a:p>
          <a:p>
            <a:pPr>
              <a:lnSpc>
                <a:spcPct val="100000"/>
              </a:lnSpc>
              <a:spcBef>
                <a:spcPts val="0"/>
              </a:spcBef>
              <a:spcAft>
                <a:spcPts val="200"/>
              </a:spcAft>
            </a:pPr>
            <a:r>
              <a:rPr lang="en-US" sz="1400" noProof="1">
                <a:solidFill>
                  <a:schemeClr val="tx2"/>
                </a:solidFill>
                <a:latin typeface="+mn-lt"/>
              </a:rPr>
              <a:t>Contextual data capture</a:t>
            </a:r>
          </a:p>
          <a:p>
            <a:pPr>
              <a:lnSpc>
                <a:spcPct val="100000"/>
              </a:lnSpc>
              <a:spcBef>
                <a:spcPts val="0"/>
              </a:spcBef>
              <a:spcAft>
                <a:spcPts val="200"/>
              </a:spcAft>
            </a:pPr>
            <a:r>
              <a:rPr lang="en-US" sz="1400" noProof="1">
                <a:solidFill>
                  <a:schemeClr val="tx2"/>
                </a:solidFill>
                <a:latin typeface="+mn-lt"/>
              </a:rPr>
              <a:t>Memory retrieval</a:t>
            </a:r>
          </a:p>
          <a:p>
            <a:pPr>
              <a:lnSpc>
                <a:spcPct val="100000"/>
              </a:lnSpc>
              <a:spcBef>
                <a:spcPts val="0"/>
              </a:spcBef>
              <a:spcAft>
                <a:spcPts val="200"/>
              </a:spcAft>
            </a:pPr>
            <a:r>
              <a:rPr lang="en-US" sz="1400" noProof="1">
                <a:solidFill>
                  <a:schemeClr val="tx2"/>
                </a:solidFill>
                <a:latin typeface="+mn-lt"/>
              </a:rPr>
              <a:t>Environment scanning</a:t>
            </a:r>
          </a:p>
        </p:txBody>
      </p:sp>
      <p:sp>
        <p:nvSpPr>
          <p:cNvPr id="41" name="Content Placeholder 10">
            <a:extLst>
              <a:ext uri="{FF2B5EF4-FFF2-40B4-BE49-F238E27FC236}">
                <a16:creationId xmlns:a16="http://schemas.microsoft.com/office/drawing/2014/main" id="{C22DB0F6-EFB9-7BD1-076C-4568279DB409}"/>
              </a:ext>
            </a:extLst>
          </p:cNvPr>
          <p:cNvSpPr txBox="1">
            <a:spLocks/>
          </p:cNvSpPr>
          <p:nvPr>
            <p:custDataLst>
              <p:tags r:id="rId11"/>
            </p:custDataLst>
          </p:nvPr>
        </p:nvSpPr>
        <p:spPr>
          <a:xfrm>
            <a:off x="4396723" y="4508984"/>
            <a:ext cx="3398553" cy="1577916"/>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200"/>
              </a:spcAft>
            </a:pPr>
            <a:r>
              <a:rPr lang="en-US" sz="1400" noProof="1">
                <a:solidFill>
                  <a:schemeClr val="tx2"/>
                </a:solidFill>
                <a:latin typeface="+mn-lt"/>
              </a:rPr>
              <a:t>Goal decomposition</a:t>
            </a:r>
          </a:p>
          <a:p>
            <a:pPr>
              <a:lnSpc>
                <a:spcPct val="100000"/>
              </a:lnSpc>
              <a:spcBef>
                <a:spcPts val="0"/>
              </a:spcBef>
              <a:spcAft>
                <a:spcPts val="200"/>
              </a:spcAft>
            </a:pPr>
            <a:r>
              <a:rPr lang="en-US" sz="1400" noProof="1">
                <a:solidFill>
                  <a:schemeClr val="tx2"/>
                </a:solidFill>
                <a:latin typeface="+mn-lt"/>
              </a:rPr>
              <a:t>Option evaluation</a:t>
            </a:r>
          </a:p>
          <a:p>
            <a:pPr>
              <a:lnSpc>
                <a:spcPct val="100000"/>
              </a:lnSpc>
              <a:spcBef>
                <a:spcPts val="0"/>
              </a:spcBef>
              <a:spcAft>
                <a:spcPts val="200"/>
              </a:spcAft>
            </a:pPr>
            <a:r>
              <a:rPr lang="en-US" sz="1400" noProof="1">
                <a:solidFill>
                  <a:schemeClr val="tx2"/>
                </a:solidFill>
                <a:latin typeface="+mn-lt"/>
              </a:rPr>
              <a:t>Multi-step action sequencing</a:t>
            </a:r>
          </a:p>
          <a:p>
            <a:pPr>
              <a:lnSpc>
                <a:spcPct val="100000"/>
              </a:lnSpc>
              <a:spcBef>
                <a:spcPts val="0"/>
              </a:spcBef>
              <a:spcAft>
                <a:spcPts val="200"/>
              </a:spcAft>
            </a:pPr>
            <a:r>
              <a:rPr lang="en-US" sz="1400" noProof="1">
                <a:solidFill>
                  <a:schemeClr val="tx2"/>
                </a:solidFill>
                <a:latin typeface="+mn-lt"/>
              </a:rPr>
              <a:t>Plan formulation</a:t>
            </a:r>
          </a:p>
        </p:txBody>
      </p:sp>
      <p:sp>
        <p:nvSpPr>
          <p:cNvPr id="42" name="Content Placeholder 11">
            <a:extLst>
              <a:ext uri="{FF2B5EF4-FFF2-40B4-BE49-F238E27FC236}">
                <a16:creationId xmlns:a16="http://schemas.microsoft.com/office/drawing/2014/main" id="{C07C20DA-5B46-DA51-BF1D-ED93E017A644}"/>
              </a:ext>
            </a:extLst>
          </p:cNvPr>
          <p:cNvSpPr txBox="1">
            <a:spLocks/>
          </p:cNvSpPr>
          <p:nvPr>
            <p:custDataLst>
              <p:tags r:id="rId12"/>
            </p:custDataLst>
          </p:nvPr>
        </p:nvSpPr>
        <p:spPr>
          <a:xfrm>
            <a:off x="8380459" y="4508984"/>
            <a:ext cx="3398553" cy="1577916"/>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200"/>
              </a:spcAft>
            </a:pPr>
            <a:r>
              <a:rPr lang="en-US" sz="1400" noProof="1">
                <a:solidFill>
                  <a:schemeClr val="tx2"/>
                </a:solidFill>
                <a:latin typeface="+mn-lt"/>
              </a:rPr>
              <a:t>Action execution</a:t>
            </a:r>
          </a:p>
          <a:p>
            <a:pPr>
              <a:lnSpc>
                <a:spcPct val="100000"/>
              </a:lnSpc>
              <a:spcBef>
                <a:spcPts val="0"/>
              </a:spcBef>
              <a:spcAft>
                <a:spcPts val="200"/>
              </a:spcAft>
            </a:pPr>
            <a:r>
              <a:rPr lang="en-US" sz="1400" noProof="1">
                <a:solidFill>
                  <a:schemeClr val="tx2"/>
                </a:solidFill>
                <a:latin typeface="+mn-lt"/>
              </a:rPr>
              <a:t>Outcome monitoring</a:t>
            </a:r>
          </a:p>
          <a:p>
            <a:pPr>
              <a:lnSpc>
                <a:spcPct val="100000"/>
              </a:lnSpc>
              <a:spcBef>
                <a:spcPts val="0"/>
              </a:spcBef>
              <a:spcAft>
                <a:spcPts val="200"/>
              </a:spcAft>
            </a:pPr>
            <a:r>
              <a:rPr lang="en-US" sz="1400" noProof="1">
                <a:solidFill>
                  <a:schemeClr val="tx2"/>
                </a:solidFill>
                <a:latin typeface="+mn-lt"/>
              </a:rPr>
              <a:t>Feedback integration</a:t>
            </a:r>
          </a:p>
          <a:p>
            <a:pPr>
              <a:lnSpc>
                <a:spcPct val="100000"/>
              </a:lnSpc>
              <a:spcBef>
                <a:spcPts val="0"/>
              </a:spcBef>
              <a:spcAft>
                <a:spcPts val="200"/>
              </a:spcAft>
            </a:pPr>
            <a:r>
              <a:rPr lang="en-US" sz="1400" noProof="1">
                <a:solidFill>
                  <a:schemeClr val="tx2"/>
                </a:solidFill>
                <a:latin typeface="+mn-lt"/>
              </a:rPr>
              <a:t>Iterative learning and adaptation</a:t>
            </a:r>
          </a:p>
        </p:txBody>
      </p:sp>
      <p:sp>
        <p:nvSpPr>
          <p:cNvPr id="43" name="Oval 42">
            <a:extLst>
              <a:ext uri="{FF2B5EF4-FFF2-40B4-BE49-F238E27FC236}">
                <a16:creationId xmlns:a16="http://schemas.microsoft.com/office/drawing/2014/main" id="{2A0B3FF3-2A3A-9C2D-521C-1E86FB17156C}"/>
              </a:ext>
            </a:extLst>
          </p:cNvPr>
          <p:cNvSpPr/>
          <p:nvPr/>
        </p:nvSpPr>
        <p:spPr>
          <a:xfrm>
            <a:off x="419099" y="1699019"/>
            <a:ext cx="182880" cy="18288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
        <p:nvSpPr>
          <p:cNvPr id="44" name="Oval 43">
            <a:extLst>
              <a:ext uri="{FF2B5EF4-FFF2-40B4-BE49-F238E27FC236}">
                <a16:creationId xmlns:a16="http://schemas.microsoft.com/office/drawing/2014/main" id="{22936E38-3894-DEED-A50C-7A390BE82E9A}"/>
              </a:ext>
            </a:extLst>
          </p:cNvPr>
          <p:cNvSpPr/>
          <p:nvPr/>
        </p:nvSpPr>
        <p:spPr>
          <a:xfrm>
            <a:off x="4400084" y="1699019"/>
            <a:ext cx="182880" cy="182880"/>
          </a:xfrm>
          <a:prstGeom prst="ellipse">
            <a:avLst/>
          </a:prstGeom>
          <a:solidFill>
            <a:schemeClr val="bg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
        <p:nvSpPr>
          <p:cNvPr id="45" name="Oval 44">
            <a:extLst>
              <a:ext uri="{FF2B5EF4-FFF2-40B4-BE49-F238E27FC236}">
                <a16:creationId xmlns:a16="http://schemas.microsoft.com/office/drawing/2014/main" id="{828880A4-73B6-E912-8935-5BEB0311CDB7}"/>
              </a:ext>
            </a:extLst>
          </p:cNvPr>
          <p:cNvSpPr/>
          <p:nvPr/>
        </p:nvSpPr>
        <p:spPr>
          <a:xfrm>
            <a:off x="8381070" y="1699019"/>
            <a:ext cx="182880" cy="182880"/>
          </a:xfrm>
          <a:prstGeom prst="ellipse">
            <a:avLst/>
          </a:prstGeom>
          <a:solidFill>
            <a:schemeClr val="bg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Tree>
    <p:extLst>
      <p:ext uri="{BB962C8B-B14F-4D97-AF65-F5344CB8AC3E}">
        <p14:creationId xmlns:p14="http://schemas.microsoft.com/office/powerpoint/2010/main" val="212666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68B266-4FF7-FB6B-689E-82E1C3D46D81}"/>
              </a:ext>
            </a:extLst>
          </p:cNvPr>
          <p:cNvSpPr txBox="1"/>
          <p:nvPr>
            <p:custDataLst>
              <p:tags r:id="rId1"/>
            </p:custDataLst>
          </p:nvPr>
        </p:nvSpPr>
        <p:spPr>
          <a:xfrm>
            <a:off x="419099" y="249300"/>
            <a:ext cx="3581400" cy="414150"/>
          </a:xfrm>
          <a:prstGeom prst="rect">
            <a:avLst/>
          </a:prstGeom>
          <a:noFill/>
        </p:spPr>
        <p:txBody>
          <a:bodyPr wrap="square" lIns="0">
            <a:spAutoFit/>
          </a:bodyPr>
          <a:lstStyle/>
          <a:p>
            <a:r>
              <a:rPr lang="en-US" sz="1400" noProof="1">
                <a:solidFill>
                  <a:schemeClr val="tx2"/>
                </a:solidFill>
              </a:rPr>
              <a:t>Risks &amp; Rewards</a:t>
            </a: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2"/>
            </p:custDataLst>
          </p:nvPr>
        </p:nvSpPr>
        <p:spPr/>
        <p:txBody>
          <a:bodyPr lIns="0">
            <a:normAutofit/>
          </a:bodyPr>
          <a:lstStyle/>
          <a:p>
            <a:r>
              <a:rPr lang="en-US" noProof="1"/>
              <a:t>Opportunities Are Immense — But So Are the Risks</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3"/>
            </p:custDataLst>
          </p:nvPr>
        </p:nvSpPr>
        <p:spPr>
          <a:xfrm>
            <a:off x="419098" y="1828800"/>
            <a:ext cx="5600700" cy="546100"/>
          </a:xfrm>
        </p:spPr>
        <p:txBody>
          <a:bodyPr vert="horz" lIns="0" tIns="45720" rIns="91440" bIns="45720" rtlCol="0">
            <a:normAutofit/>
          </a:bodyPr>
          <a:lstStyle/>
          <a:p>
            <a:pPr marL="11111" indent="0">
              <a:buNone/>
            </a:pPr>
            <a:r>
              <a:rPr lang="en-US" sz="2000" b="1" noProof="1">
                <a:latin typeface="+mj-lt"/>
              </a:rPr>
              <a:t>Opportunities</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4294967295"/>
            <p:custDataLst>
              <p:tags r:id="rId4"/>
            </p:custDataLst>
          </p:nvPr>
        </p:nvSpPr>
        <p:spPr>
          <a:xfrm>
            <a:off x="419099" y="2442410"/>
            <a:ext cx="5600700" cy="3844089"/>
          </a:xfrm>
        </p:spPr>
        <p:txBody>
          <a:bodyPr vert="horz" lIns="0" tIns="45720" rIns="91440" bIns="45720" rtlCol="0" anchor="t">
            <a:normAutofit/>
          </a:bodyPr>
          <a:lstStyle/>
          <a:p>
            <a:pPr marL="407988" indent="-284163">
              <a:lnSpc>
                <a:spcPct val="114000"/>
              </a:lnSpc>
              <a:buClr>
                <a:schemeClr val="accent1"/>
              </a:buClr>
            </a:pPr>
            <a:r>
              <a:rPr lang="en-US" noProof="1"/>
              <a:t>Increased productivity in routine and complex task</a:t>
            </a:r>
          </a:p>
          <a:p>
            <a:pPr marL="407988" indent="-284163">
              <a:lnSpc>
                <a:spcPct val="114000"/>
              </a:lnSpc>
              <a:buClr>
                <a:schemeClr val="accent1"/>
              </a:buClr>
            </a:pPr>
            <a:r>
              <a:rPr lang="en-US" dirty="0"/>
              <a:t>24/7 autonomous operations without fatigue.</a:t>
            </a:r>
          </a:p>
          <a:p>
            <a:pPr marL="407988" indent="-284163">
              <a:lnSpc>
                <a:spcPct val="114000"/>
              </a:lnSpc>
              <a:buClr>
                <a:schemeClr val="accent1"/>
              </a:buClr>
            </a:pPr>
            <a:r>
              <a:rPr lang="en-US" dirty="0"/>
              <a:t>Faster research and development cycles.</a:t>
            </a:r>
          </a:p>
          <a:p>
            <a:pPr marL="407988" indent="-284163">
              <a:lnSpc>
                <a:spcPct val="114000"/>
              </a:lnSpc>
              <a:buClr>
                <a:schemeClr val="accent1"/>
              </a:buClr>
            </a:pPr>
            <a:r>
              <a:rPr lang="en-US" dirty="0"/>
              <a:t>Greater scalability in service and operations.</a:t>
            </a:r>
            <a:endParaRPr lang="en-US" noProof="1"/>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5"/>
            </p:custDataLst>
          </p:nvPr>
        </p:nvSpPr>
        <p:spPr>
          <a:xfrm>
            <a:off x="6172197" y="1841500"/>
            <a:ext cx="5600700" cy="546100"/>
          </a:xfrm>
        </p:spPr>
        <p:txBody>
          <a:bodyPr vert="horz" lIns="0" tIns="45720" rIns="91440" bIns="45720" rtlCol="0">
            <a:normAutofit/>
          </a:bodyPr>
          <a:lstStyle/>
          <a:p>
            <a:pPr marL="11111" indent="0">
              <a:buNone/>
            </a:pPr>
            <a:r>
              <a:rPr lang="en-US" sz="2000" b="1" noProof="1">
                <a:latin typeface="+mj-lt"/>
              </a:rPr>
              <a:t>Risks &amp; Challenges</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6"/>
            </p:custDataLst>
          </p:nvPr>
        </p:nvSpPr>
        <p:spPr>
          <a:xfrm>
            <a:off x="6172198" y="2442410"/>
            <a:ext cx="5600700" cy="3844089"/>
          </a:xfrm>
        </p:spPr>
        <p:txBody>
          <a:bodyPr vert="horz" lIns="0" tIns="45720" rIns="91440" bIns="45720" rtlCol="0" anchor="t">
            <a:normAutofit/>
          </a:bodyPr>
          <a:lstStyle/>
          <a:p>
            <a:pPr marL="407988" indent="-284163">
              <a:lnSpc>
                <a:spcPct val="114000"/>
              </a:lnSpc>
              <a:buClr>
                <a:schemeClr val="accent1"/>
              </a:buClr>
            </a:pPr>
            <a:r>
              <a:rPr lang="en-US" dirty="0"/>
              <a:t>Misaligned goals causing harmful actions</a:t>
            </a:r>
          </a:p>
          <a:p>
            <a:pPr marL="407988" indent="-284163">
              <a:lnSpc>
                <a:spcPct val="114000"/>
              </a:lnSpc>
              <a:buClr>
                <a:schemeClr val="accent1"/>
              </a:buClr>
            </a:pPr>
            <a:r>
              <a:rPr lang="en-US" dirty="0"/>
              <a:t>Reduced human oversight and accountability.</a:t>
            </a:r>
          </a:p>
          <a:p>
            <a:pPr marL="407988" indent="-284163">
              <a:lnSpc>
                <a:spcPct val="114000"/>
              </a:lnSpc>
              <a:buClr>
                <a:schemeClr val="accent1"/>
              </a:buClr>
            </a:pPr>
            <a:r>
              <a:rPr lang="en-US" dirty="0"/>
              <a:t>Security risks from tool and data access.</a:t>
            </a:r>
          </a:p>
          <a:p>
            <a:pPr marL="407988" indent="-284163">
              <a:lnSpc>
                <a:spcPct val="114000"/>
              </a:lnSpc>
              <a:buClr>
                <a:schemeClr val="accent1"/>
              </a:buClr>
            </a:pPr>
            <a:r>
              <a:rPr lang="en-US" dirty="0"/>
              <a:t>Potential job displacement and reskilling needs.</a:t>
            </a:r>
            <a:endParaRPr lang="en-US" noProof="1"/>
          </a:p>
        </p:txBody>
      </p:sp>
      <p:pic>
        <p:nvPicPr>
          <p:cNvPr id="10" name="Graphic 9">
            <a:extLst>
              <a:ext uri="{FF2B5EF4-FFF2-40B4-BE49-F238E27FC236}">
                <a16:creationId xmlns:a16="http://schemas.microsoft.com/office/drawing/2014/main" id="{E483115C-7784-4835-E510-222FD837AEFE}"/>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345948" y="1485900"/>
            <a:ext cx="365760" cy="365760"/>
          </a:xfrm>
          <a:prstGeom prst="rect">
            <a:avLst/>
          </a:prstGeom>
        </p:spPr>
      </p:pic>
      <p:pic>
        <p:nvPicPr>
          <p:cNvPr id="12" name="Graphic 11">
            <a:extLst>
              <a:ext uri="{FF2B5EF4-FFF2-40B4-BE49-F238E27FC236}">
                <a16:creationId xmlns:a16="http://schemas.microsoft.com/office/drawing/2014/main" id="{722F0DF4-F984-1733-49FA-647B4DA55BEE}"/>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6094475" y="1485900"/>
            <a:ext cx="365760" cy="365760"/>
          </a:xfrm>
          <a:prstGeom prst="rect">
            <a:avLst/>
          </a:prstGeom>
        </p:spPr>
      </p:pic>
      <p:sp>
        <p:nvSpPr>
          <p:cNvPr id="9" name="Rectangle 8">
            <a:extLst>
              <a:ext uri="{FF2B5EF4-FFF2-40B4-BE49-F238E27FC236}">
                <a16:creationId xmlns:a16="http://schemas.microsoft.com/office/drawing/2014/main" id="{47C7E28B-7588-502F-48A0-AB21F62EC80C}"/>
              </a:ext>
            </a:extLst>
          </p:cNvPr>
          <p:cNvSpPr/>
          <p:nvPr>
            <p:custDataLst>
              <p:tags r:id="rId7"/>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1639993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EF97430-ACD2-CD7B-8882-DE17B8D23798}"/>
              </a:ext>
            </a:extLst>
          </p:cNvPr>
          <p:cNvSpPr/>
          <p:nvPr/>
        </p:nvSpPr>
        <p:spPr>
          <a:xfrm>
            <a:off x="228601"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23" name="Rounded Rectangle 22">
            <a:extLst>
              <a:ext uri="{FF2B5EF4-FFF2-40B4-BE49-F238E27FC236}">
                <a16:creationId xmlns:a16="http://schemas.microsoft.com/office/drawing/2014/main" id="{FEA3FF02-AFCF-9B1C-F203-53187303C52C}"/>
              </a:ext>
            </a:extLst>
          </p:cNvPr>
          <p:cNvSpPr/>
          <p:nvPr/>
        </p:nvSpPr>
        <p:spPr>
          <a:xfrm>
            <a:off x="3209129"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24" name="Rounded Rectangle 23">
            <a:extLst>
              <a:ext uri="{FF2B5EF4-FFF2-40B4-BE49-F238E27FC236}">
                <a16:creationId xmlns:a16="http://schemas.microsoft.com/office/drawing/2014/main" id="{CAA5B80D-D774-0F4B-8C0A-AAE2A490BF55}"/>
              </a:ext>
            </a:extLst>
          </p:cNvPr>
          <p:cNvSpPr/>
          <p:nvPr/>
        </p:nvSpPr>
        <p:spPr>
          <a:xfrm>
            <a:off x="6189658"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30" name="Rounded Rectangle 29">
            <a:extLst>
              <a:ext uri="{FF2B5EF4-FFF2-40B4-BE49-F238E27FC236}">
                <a16:creationId xmlns:a16="http://schemas.microsoft.com/office/drawing/2014/main" id="{8908AAA3-B95F-C2AA-02BE-F029EC7DC34D}"/>
              </a:ext>
            </a:extLst>
          </p:cNvPr>
          <p:cNvSpPr/>
          <p:nvPr/>
        </p:nvSpPr>
        <p:spPr>
          <a:xfrm>
            <a:off x="9170185"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5" name="TextBox 4">
            <a:extLst>
              <a:ext uri="{FF2B5EF4-FFF2-40B4-BE49-F238E27FC236}">
                <a16:creationId xmlns:a16="http://schemas.microsoft.com/office/drawing/2014/main" id="{799B7002-33AD-F2F4-EE0B-4C2808EE39D9}"/>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a:solidFill>
                  <a:schemeClr val="tx2"/>
                </a:solidFill>
              </a:rPr>
              <a:t>Future Trends</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r>
              <a:rPr lang="en-US"/>
              <a:t>The Road Ahead: Key Trends Shaping Agentic AI</a:t>
            </a:r>
          </a:p>
        </p:txBody>
      </p:sp>
      <p:pic>
        <p:nvPicPr>
          <p:cNvPr id="8" name="Graphic 7">
            <a:extLst>
              <a:ext uri="{FF2B5EF4-FFF2-40B4-BE49-F238E27FC236}">
                <a16:creationId xmlns:a16="http://schemas.microsoft.com/office/drawing/2014/main" id="{F3E6EFDB-A5D7-2D3D-7B31-1EBDAE08FC31}"/>
              </a:ext>
            </a:extLst>
          </p:cNvPr>
          <p:cNvPicPr>
            <a:picLocks noChangeAspect="1"/>
          </p:cNvPicPr>
          <p:nvPr>
            <p:custDataLst>
              <p:tags r:id="rId3"/>
            </p:custDataLst>
          </p:nvPr>
        </p:nvPicPr>
        <p:blipFill>
          <a:blip>
            <a:extLst>
              <a:ext uri="{96DAC541-7B7A-43D3-8B79-37D633B846F1}">
                <asvg:svgBlip xmlns:asvg="http://schemas.microsoft.com/office/drawing/2016/SVG/main" r:embed="rId17"/>
              </a:ext>
            </a:extLst>
          </a:blip>
          <a:stretch>
            <a:fillRect/>
          </a:stretch>
        </p:blipFill>
        <p:spPr>
          <a:xfrm>
            <a:off x="9329530" y="1688555"/>
            <a:ext cx="274320" cy="274320"/>
          </a:xfrm>
          <a:prstGeom prst="rect">
            <a:avLst/>
          </a:prstGeom>
        </p:spPr>
      </p:pic>
      <p:pic>
        <p:nvPicPr>
          <p:cNvPr id="16" name="Graphic 15">
            <a:extLst>
              <a:ext uri="{FF2B5EF4-FFF2-40B4-BE49-F238E27FC236}">
                <a16:creationId xmlns:a16="http://schemas.microsoft.com/office/drawing/2014/main" id="{648B04E7-02BB-BB06-BC21-949179BCEA73}"/>
              </a:ext>
            </a:extLst>
          </p:cNvPr>
          <p:cNvPicPr>
            <a:picLocks noChangeAspect="1"/>
          </p:cNvPicPr>
          <p:nvPr>
            <p:custDataLst>
              <p:tags r:id="rId4"/>
            </p:custDataLst>
          </p:nvPr>
        </p:nvPicPr>
        <p:blipFill>
          <a:blip>
            <a:extLst>
              <a:ext uri="{96DAC541-7B7A-43D3-8B79-37D633B846F1}">
                <asvg:svgBlip xmlns:asvg="http://schemas.microsoft.com/office/drawing/2016/SVG/main" r:embed="rId18"/>
              </a:ext>
            </a:extLst>
          </a:blip>
          <a:stretch>
            <a:fillRect/>
          </a:stretch>
        </p:blipFill>
        <p:spPr>
          <a:xfrm>
            <a:off x="419099" y="1688555"/>
            <a:ext cx="274320" cy="274320"/>
          </a:xfrm>
          <a:prstGeom prst="rect">
            <a:avLst/>
          </a:prstGeom>
        </p:spPr>
      </p:pic>
      <p:pic>
        <p:nvPicPr>
          <p:cNvPr id="17" name="Graphic 16">
            <a:extLst>
              <a:ext uri="{FF2B5EF4-FFF2-40B4-BE49-F238E27FC236}">
                <a16:creationId xmlns:a16="http://schemas.microsoft.com/office/drawing/2014/main" id="{65C10B3D-8CB1-22DC-AC80-9B8F4A398C8B}"/>
              </a:ext>
            </a:extLst>
          </p:cNvPr>
          <p:cNvPicPr>
            <a:picLocks noChangeAspect="1"/>
          </p:cNvPicPr>
          <p:nvPr>
            <p:custDataLst>
              <p:tags r:id="rId5"/>
            </p:custDataLst>
          </p:nvPr>
        </p:nvPicPr>
        <p:blipFill>
          <a:blip>
            <a:extLst>
              <a:ext uri="{96DAC541-7B7A-43D3-8B79-37D633B846F1}">
                <asvg:svgBlip xmlns:asvg="http://schemas.microsoft.com/office/drawing/2016/SVG/main" r:embed="rId19"/>
              </a:ext>
            </a:extLst>
          </a:blip>
          <a:stretch>
            <a:fillRect/>
          </a:stretch>
        </p:blipFill>
        <p:spPr>
          <a:xfrm>
            <a:off x="3389243" y="1688555"/>
            <a:ext cx="274320" cy="274320"/>
          </a:xfrm>
          <a:prstGeom prst="rect">
            <a:avLst/>
          </a:prstGeom>
        </p:spPr>
      </p:pic>
      <p:pic>
        <p:nvPicPr>
          <p:cNvPr id="18" name="Graphic 17">
            <a:extLst>
              <a:ext uri="{FF2B5EF4-FFF2-40B4-BE49-F238E27FC236}">
                <a16:creationId xmlns:a16="http://schemas.microsoft.com/office/drawing/2014/main" id="{75772D04-4C85-73AB-3341-2EF53D7292E1}"/>
              </a:ext>
            </a:extLst>
          </p:cNvPr>
          <p:cNvPicPr>
            <a:picLocks noChangeAspect="1"/>
          </p:cNvPicPr>
          <p:nvPr>
            <p:custDataLst>
              <p:tags r:id="rId6"/>
            </p:custDataLst>
          </p:nvPr>
        </p:nvPicPr>
        <p:blipFill>
          <a:blip>
            <a:extLst>
              <a:ext uri="{96DAC541-7B7A-43D3-8B79-37D633B846F1}">
                <asvg:svgBlip xmlns:asvg="http://schemas.microsoft.com/office/drawing/2016/SVG/main" r:embed="rId20"/>
              </a:ext>
            </a:extLst>
          </a:blip>
          <a:stretch>
            <a:fillRect/>
          </a:stretch>
        </p:blipFill>
        <p:spPr>
          <a:xfrm>
            <a:off x="6359386" y="1688555"/>
            <a:ext cx="274320" cy="274320"/>
          </a:xfrm>
          <a:prstGeom prst="rect">
            <a:avLst/>
          </a:prstGeom>
        </p:spPr>
      </p:pic>
      <p:sp>
        <p:nvSpPr>
          <p:cNvPr id="6" name="Rectangle 5">
            <a:extLst>
              <a:ext uri="{FF2B5EF4-FFF2-40B4-BE49-F238E27FC236}">
                <a16:creationId xmlns:a16="http://schemas.microsoft.com/office/drawing/2014/main" id="{3FF349F7-8C42-C386-3FB8-F0776124100E}"/>
              </a:ext>
            </a:extLst>
          </p:cNvPr>
          <p:cNvSpPr/>
          <p:nvPr>
            <p:custDataLst>
              <p:tags r:id="rId7"/>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35" name="Text Placeholder 12">
            <a:extLst>
              <a:ext uri="{FF2B5EF4-FFF2-40B4-BE49-F238E27FC236}">
                <a16:creationId xmlns:a16="http://schemas.microsoft.com/office/drawing/2014/main" id="{FAC6D940-662A-B24F-DE60-05AB877F735D}"/>
              </a:ext>
            </a:extLst>
          </p:cNvPr>
          <p:cNvSpPr txBox="1">
            <a:spLocks/>
          </p:cNvSpPr>
          <p:nvPr>
            <p:custDataLst>
              <p:tags r:id="rId8"/>
            </p:custDataLst>
          </p:nvPr>
        </p:nvSpPr>
        <p:spPr>
          <a:xfrm>
            <a:off x="419099" y="2095017"/>
            <a:ext cx="2443371" cy="640080"/>
          </a:xfrm>
          <a:prstGeom prst="rect">
            <a:avLst/>
          </a:prstGeom>
        </p:spPr>
        <p:txBody>
          <a:bodyPr vert="horz" lIns="0" tIns="45720" rIns="91440" bIns="45720" rtlCol="0" anchor="t">
            <a:noAutofit/>
          </a:bodyPr>
          <a:lstStyle>
            <a:lvl1pPr marL="0" indent="0" algn="l" defTabSz="914354" rtl="0" eaLnBrk="1" latinLnBrk="0" hangingPunct="1">
              <a:lnSpc>
                <a:spcPct val="100000"/>
              </a:lnSpc>
              <a:spcBef>
                <a:spcPts val="1200"/>
              </a:spcBef>
              <a:buFont typeface="Arial" panose="020B0604020202020204" pitchFamily="34" charset="0"/>
              <a:buNone/>
              <a:tabLst/>
              <a:defRPr sz="24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9525" algn="l" defTabSz="914354" rtl="0" eaLnBrk="1" fontAlgn="auto" latinLnBrk="0" hangingPunct="1">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effectLst/>
                <a:uLnTx/>
                <a:uFillTx/>
                <a:latin typeface="+mj-lt"/>
                <a:ea typeface="+mn-ea"/>
                <a:cs typeface="Arial" panose="020B0604020202020204" pitchFamily="34" charset="0"/>
              </a:rPr>
              <a:t>Multi-Agent Collaboration</a:t>
            </a:r>
          </a:p>
        </p:txBody>
      </p:sp>
      <p:sp>
        <p:nvSpPr>
          <p:cNvPr id="36" name="Content Placeholder 25">
            <a:extLst>
              <a:ext uri="{FF2B5EF4-FFF2-40B4-BE49-F238E27FC236}">
                <a16:creationId xmlns:a16="http://schemas.microsoft.com/office/drawing/2014/main" id="{4E50CEAC-FC32-11B3-BA2D-736CDC29ADC1}"/>
              </a:ext>
            </a:extLst>
          </p:cNvPr>
          <p:cNvSpPr txBox="1">
            <a:spLocks/>
          </p:cNvSpPr>
          <p:nvPr>
            <p:custDataLst>
              <p:tags r:id="rId9"/>
            </p:custDataLst>
          </p:nvPr>
        </p:nvSpPr>
        <p:spPr>
          <a:xfrm>
            <a:off x="419099" y="2743200"/>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lvl="0" indent="0">
              <a:lnSpc>
                <a:spcPct val="114000"/>
              </a:lnSpc>
              <a:spcBef>
                <a:spcPts val="1000"/>
              </a:spcBef>
              <a:buNone/>
              <a:defRPr/>
            </a:pPr>
            <a:r>
              <a:rPr lang="en-US" sz="1400" noProof="1"/>
              <a:t>Specialized AI agents form interconnected networks to tackle complex challenges by sharing knowledge, dividing tasks, and optimizing outcomes collaboratively.</a:t>
            </a:r>
          </a:p>
        </p:txBody>
      </p:sp>
      <p:sp>
        <p:nvSpPr>
          <p:cNvPr id="37" name="Content Placeholder 10">
            <a:extLst>
              <a:ext uri="{FF2B5EF4-FFF2-40B4-BE49-F238E27FC236}">
                <a16:creationId xmlns:a16="http://schemas.microsoft.com/office/drawing/2014/main" id="{90CB2690-69E3-3BA7-6454-F70A7B690BBA}"/>
              </a:ext>
            </a:extLst>
          </p:cNvPr>
          <p:cNvSpPr txBox="1">
            <a:spLocks/>
          </p:cNvSpPr>
          <p:nvPr>
            <p:custDataLst>
              <p:tags r:id="rId10"/>
            </p:custDataLst>
          </p:nvPr>
        </p:nvSpPr>
        <p:spPr>
          <a:xfrm>
            <a:off x="3389242" y="2743199"/>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Hybrid workflows integrate human judgment with agent autonomy, enabling real-time co-piloting of decisions for enhanced efficiency and reliability.</a:t>
            </a:r>
          </a:p>
        </p:txBody>
      </p:sp>
      <p:sp>
        <p:nvSpPr>
          <p:cNvPr id="38" name="Text Placeholder 13">
            <a:extLst>
              <a:ext uri="{FF2B5EF4-FFF2-40B4-BE49-F238E27FC236}">
                <a16:creationId xmlns:a16="http://schemas.microsoft.com/office/drawing/2014/main" id="{25ACBF58-1F46-F4DF-7C0F-8FB0BF1CAFC3}"/>
              </a:ext>
            </a:extLst>
          </p:cNvPr>
          <p:cNvSpPr txBox="1">
            <a:spLocks/>
          </p:cNvSpPr>
          <p:nvPr>
            <p:custDataLst>
              <p:tags r:id="rId11"/>
            </p:custDataLst>
          </p:nvPr>
        </p:nvSpPr>
        <p:spPr>
          <a:xfrm>
            <a:off x="3389243" y="2095017"/>
            <a:ext cx="2443371"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lvl="0" indent="9525">
              <a:defRPr/>
            </a:pPr>
            <a:r>
              <a:rPr lang="en-US" sz="1600" noProof="1"/>
              <a:t>Human-Agent Teaming</a:t>
            </a:r>
          </a:p>
        </p:txBody>
      </p:sp>
      <p:sp>
        <p:nvSpPr>
          <p:cNvPr id="39" name="Content Placeholder 11">
            <a:extLst>
              <a:ext uri="{FF2B5EF4-FFF2-40B4-BE49-F238E27FC236}">
                <a16:creationId xmlns:a16="http://schemas.microsoft.com/office/drawing/2014/main" id="{9D6AEDD9-9901-5993-0960-E87984D4D1E7}"/>
              </a:ext>
            </a:extLst>
          </p:cNvPr>
          <p:cNvSpPr txBox="1">
            <a:spLocks/>
          </p:cNvSpPr>
          <p:nvPr>
            <p:custDataLst>
              <p:tags r:id="rId12"/>
            </p:custDataLst>
          </p:nvPr>
        </p:nvSpPr>
        <p:spPr>
          <a:xfrm>
            <a:off x="6359385" y="2743199"/>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Frameworks like MCP establish common communication and operation standards, allowing diverse agents and systems to interoperate securely and seamlessly.</a:t>
            </a:r>
          </a:p>
        </p:txBody>
      </p:sp>
      <p:sp>
        <p:nvSpPr>
          <p:cNvPr id="40" name="Content Placeholder 1">
            <a:extLst>
              <a:ext uri="{FF2B5EF4-FFF2-40B4-BE49-F238E27FC236}">
                <a16:creationId xmlns:a16="http://schemas.microsoft.com/office/drawing/2014/main" id="{0510C479-AA1A-09A9-52FE-80206DEAC938}"/>
              </a:ext>
            </a:extLst>
          </p:cNvPr>
          <p:cNvSpPr txBox="1">
            <a:spLocks/>
          </p:cNvSpPr>
          <p:nvPr>
            <p:custDataLst>
              <p:tags r:id="rId13"/>
            </p:custDataLst>
          </p:nvPr>
        </p:nvSpPr>
        <p:spPr>
          <a:xfrm>
            <a:off x="9329529" y="2729947"/>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Industry and regulatory bodies are developing guidelines, audit mechanisms, and accountability standards to ensure ethical and secure use of autonomous AI.</a:t>
            </a:r>
          </a:p>
        </p:txBody>
      </p:sp>
      <p:sp>
        <p:nvSpPr>
          <p:cNvPr id="41" name="Text Placeholder 14">
            <a:extLst>
              <a:ext uri="{FF2B5EF4-FFF2-40B4-BE49-F238E27FC236}">
                <a16:creationId xmlns:a16="http://schemas.microsoft.com/office/drawing/2014/main" id="{80CF1D15-509D-EBC3-3A6C-D33EEBC3D9D1}"/>
              </a:ext>
            </a:extLst>
          </p:cNvPr>
          <p:cNvSpPr txBox="1">
            <a:spLocks/>
          </p:cNvSpPr>
          <p:nvPr>
            <p:custDataLst>
              <p:tags r:id="rId14"/>
            </p:custDataLst>
          </p:nvPr>
        </p:nvSpPr>
        <p:spPr>
          <a:xfrm>
            <a:off x="6359386" y="2095017"/>
            <a:ext cx="2443371"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lvl="0" indent="9525">
              <a:defRPr/>
            </a:pPr>
            <a:r>
              <a:rPr lang="en-US" sz="1600" noProof="1"/>
              <a:t>Standardized Agent Protocols</a:t>
            </a:r>
          </a:p>
        </p:txBody>
      </p:sp>
      <p:sp>
        <p:nvSpPr>
          <p:cNvPr id="42" name="Text Placeholder 2">
            <a:extLst>
              <a:ext uri="{FF2B5EF4-FFF2-40B4-BE49-F238E27FC236}">
                <a16:creationId xmlns:a16="http://schemas.microsoft.com/office/drawing/2014/main" id="{33C6C179-D0CA-F1AC-C3CA-1FDA3659F68F}"/>
              </a:ext>
            </a:extLst>
          </p:cNvPr>
          <p:cNvSpPr txBox="1">
            <a:spLocks/>
          </p:cNvSpPr>
          <p:nvPr>
            <p:custDataLst>
              <p:tags r:id="rId15"/>
            </p:custDataLst>
          </p:nvPr>
        </p:nvSpPr>
        <p:spPr>
          <a:xfrm>
            <a:off x="9329530" y="2095017"/>
            <a:ext cx="2443371"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lvl="0" indent="9525">
              <a:defRPr/>
            </a:pPr>
            <a:r>
              <a:rPr lang="en-US" sz="1600" noProof="1"/>
              <a:t>Governance &amp; Safety Frameworks</a:t>
            </a:r>
          </a:p>
        </p:txBody>
      </p:sp>
    </p:spTree>
    <p:extLst>
      <p:ext uri="{BB962C8B-B14F-4D97-AF65-F5344CB8AC3E}">
        <p14:creationId xmlns:p14="http://schemas.microsoft.com/office/powerpoint/2010/main" val="72050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7C4CF8E-4258-3008-C1D3-402B583F2FF1}"/>
              </a:ext>
            </a:extLst>
          </p:cNvPr>
          <p:cNvSpPr txBox="1">
            <a:spLocks/>
          </p:cNvSpPr>
          <p:nvPr>
            <p:custDataLst>
              <p:tags r:id="rId1"/>
            </p:custDataLst>
          </p:nvPr>
        </p:nvSpPr>
        <p:spPr>
          <a:xfrm>
            <a:off x="419098" y="629392"/>
            <a:ext cx="11353802" cy="2799607"/>
          </a:xfrm>
          <a:prstGeom prst="rect">
            <a:avLst/>
          </a:prstGeom>
        </p:spPr>
        <p:txBody>
          <a:bodyPr vert="horz" lIns="0" tIns="45720" rIns="91440" bIns="45720" rtlCol="0" anchor="t">
            <a:normAutofit lnSpcReduction="10000"/>
          </a:bodyPr>
          <a:lst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85000"/>
              </a:lnSpc>
            </a:pPr>
            <a:r>
              <a:rPr lang="en-US" sz="5400" noProof="1">
                <a:solidFill>
                  <a:schemeClr val="accent1"/>
                </a:solidFill>
              </a:rPr>
              <a:t>Agentic AI marks a revolutionary shift from tools we command to autonomous partners that act independently.</a:t>
            </a:r>
          </a:p>
        </p:txBody>
      </p:sp>
      <p:sp>
        <p:nvSpPr>
          <p:cNvPr id="11" name="TextBox 10">
            <a:extLst>
              <a:ext uri="{FF2B5EF4-FFF2-40B4-BE49-F238E27FC236}">
                <a16:creationId xmlns:a16="http://schemas.microsoft.com/office/drawing/2014/main" id="{4DF2BF78-7410-E7C7-ED95-709DD74E5F2E}"/>
              </a:ext>
            </a:extLst>
          </p:cNvPr>
          <p:cNvSpPr txBox="1"/>
          <p:nvPr>
            <p:custDataLst>
              <p:tags r:id="rId2"/>
            </p:custDataLst>
          </p:nvPr>
        </p:nvSpPr>
        <p:spPr>
          <a:xfrm>
            <a:off x="419100" y="265211"/>
            <a:ext cx="3581400" cy="304800"/>
          </a:xfrm>
          <a:prstGeom prst="rect">
            <a:avLst/>
          </a:prstGeom>
          <a:noFill/>
        </p:spPr>
        <p:txBody>
          <a:bodyPr wrap="square" lIns="0">
            <a:normAutofit/>
          </a:bodyPr>
          <a:lstStyle/>
          <a:p>
            <a:r>
              <a:rPr lang="en-US" sz="1400" noProof="1">
                <a:solidFill>
                  <a:schemeClr val="tx2"/>
                </a:solidFill>
              </a:rPr>
              <a:t>Conclusion</a:t>
            </a:r>
          </a:p>
        </p:txBody>
      </p:sp>
      <p:sp>
        <p:nvSpPr>
          <p:cNvPr id="13" name="Content Placeholder 2">
            <a:extLst>
              <a:ext uri="{FF2B5EF4-FFF2-40B4-BE49-F238E27FC236}">
                <a16:creationId xmlns:a16="http://schemas.microsoft.com/office/drawing/2014/main" id="{7FB00F46-CA13-14FD-35E8-DD65D080C45D}"/>
              </a:ext>
            </a:extLst>
          </p:cNvPr>
          <p:cNvSpPr txBox="1">
            <a:spLocks/>
          </p:cNvSpPr>
          <p:nvPr>
            <p:custDataLst>
              <p:tags r:id="rId3"/>
            </p:custDataLst>
          </p:nvPr>
        </p:nvSpPr>
        <p:spPr>
          <a:xfrm>
            <a:off x="419100" y="4953000"/>
            <a:ext cx="7543800" cy="1343902"/>
          </a:xfrm>
          <a:prstGeom prst="rect">
            <a:avLst/>
          </a:prstGeom>
        </p:spPr>
        <p:txBody>
          <a:bodyPr lIns="0" anchor="b">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buFont typeface="Arial" panose="020B0604020202020204" pitchFamily="34" charset="0"/>
              <a:buNone/>
            </a:pPr>
            <a:r>
              <a:rPr lang="en-US" sz="1400" noProof="1"/>
              <a:t>This new era transforms human-machine collaboration by enabling AI systems to pursue complex goals with minimal oversight. Organizations that embrace and govern agentic AI responsibly today will shape the future competitive landscape and unlock unprecedented innovation and efficiency.</a:t>
            </a:r>
          </a:p>
        </p:txBody>
      </p:sp>
      <p:sp>
        <p:nvSpPr>
          <p:cNvPr id="3" name="Rectangle 2">
            <a:extLst>
              <a:ext uri="{FF2B5EF4-FFF2-40B4-BE49-F238E27FC236}">
                <a16:creationId xmlns:a16="http://schemas.microsoft.com/office/drawing/2014/main" id="{D07B1A85-A5B4-1DAB-8B3B-29C9994391E8}"/>
              </a:ext>
            </a:extLst>
          </p:cNvPr>
          <p:cNvSpPr/>
          <p:nvPr>
            <p:custDataLst>
              <p:tags r:id="rId4"/>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922765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rectangle 1"/>
          <p:cNvSpPr/>
          <p:nvPr/>
        </p:nvSpPr>
        <p:spPr>
          <a:xfrm>
            <a:off x="4229100" y="228600"/>
            <a:ext cx="7734300" cy="6400800"/>
          </a:xfrm>
          <a:prstGeom prst="roundRect">
            <a:avLst/>
          </a:prstGeom>
          <a:solidFill>
            <a:schemeClr val="lt2"/>
          </a:solidFill>
          <a:ln w="12700">
            <a:solidFill>
              <a:srgbClr val="000000"/>
            </a:solidFill>
          </a:ln>
        </p:spPr>
        <p:txBody>
          <a:bodyPr/>
          <a:lstStyle/>
          <a:p>
            <a:endParaRPr/>
          </a:p>
        </p:txBody>
      </p:sp>
      <p:sp>
        <p:nvSpPr>
          <p:cNvPr id="3" name="Text Box 1"/>
          <p:cNvSpPr txBox="1"/>
          <p:nvPr/>
        </p:nvSpPr>
        <p:spPr>
          <a:xfrm>
            <a:off x="419100" y="254000"/>
            <a:ext cx="3581400" cy="419100"/>
          </a:xfrm>
          <a:prstGeom prst="rect">
            <a:avLst/>
          </a:prstGeom>
        </p:spPr>
        <p:txBody>
          <a:bodyPr/>
          <a:lstStyle/>
          <a:p>
            <a:pPr>
              <a:buNone/>
            </a:pPr>
            <a:r>
              <a:rPr lang="en-US" sz="1400" b="0" i="0" u="none">
                <a:solidFill>
                  <a:schemeClr val="tx2"/>
                </a:solidFill>
                <a:latin typeface="+mn-lt"/>
              </a:rPr>
              <a:t>Conclusion</a:t>
            </a:r>
          </a:p>
        </p:txBody>
      </p:sp>
      <p:sp>
        <p:nvSpPr>
          <p:cNvPr id="4" name="Text Box 2"/>
          <p:cNvSpPr txBox="1"/>
          <p:nvPr/>
        </p:nvSpPr>
        <p:spPr>
          <a:xfrm>
            <a:off x="419100" y="635000"/>
            <a:ext cx="3581400" cy="2794000"/>
          </a:xfrm>
          <a:prstGeom prst="rect">
            <a:avLst/>
          </a:prstGeom>
        </p:spPr>
        <p:txBody>
          <a:bodyPr/>
          <a:lstStyle/>
          <a:p>
            <a:pPr>
              <a:buNone/>
            </a:pPr>
            <a:r>
              <a:rPr lang="en-US" sz="3600" b="1" i="0" u="none">
                <a:solidFill>
                  <a:schemeClr val="dk1"/>
                </a:solidFill>
                <a:latin typeface="+mj-lt"/>
              </a:rPr>
              <a:t>Key Takeaways</a:t>
            </a:r>
          </a:p>
        </p:txBody>
      </p:sp>
      <p:sp>
        <p:nvSpPr>
          <p:cNvPr id="5" name="Text Box 3"/>
          <p:cNvSpPr txBox="1"/>
          <p:nvPr/>
        </p:nvSpPr>
        <p:spPr>
          <a:xfrm>
            <a:off x="4699000" y="508000"/>
            <a:ext cx="698500" cy="482600"/>
          </a:xfrm>
          <a:prstGeom prst="rect">
            <a:avLst/>
          </a:prstGeom>
        </p:spPr>
        <p:txBody>
          <a:bodyPr/>
          <a:lstStyle/>
          <a:p>
            <a:pPr>
              <a:buNone/>
            </a:pPr>
            <a:r>
              <a:rPr lang="en-US" sz="2400" b="0" i="0" u="none">
                <a:solidFill>
                  <a:schemeClr val="accent1"/>
                </a:solidFill>
                <a:latin typeface="+mj-lt"/>
              </a:rPr>
              <a:t>01</a:t>
            </a:r>
          </a:p>
        </p:txBody>
      </p:sp>
      <p:sp>
        <p:nvSpPr>
          <p:cNvPr id="6" name="Text Box 4"/>
          <p:cNvSpPr txBox="1"/>
          <p:nvPr/>
        </p:nvSpPr>
        <p:spPr>
          <a:xfrm>
            <a:off x="5461000" y="457200"/>
            <a:ext cx="6032500" cy="660400"/>
          </a:xfrm>
          <a:prstGeom prst="rect">
            <a:avLst/>
          </a:prstGeom>
        </p:spPr>
        <p:txBody>
          <a:bodyPr/>
          <a:lstStyle/>
          <a:p>
            <a:pPr>
              <a:buNone/>
            </a:pPr>
            <a:r>
              <a:rPr lang="en-US" sz="1300" b="1" i="0" u="none">
                <a:solidFill>
                  <a:srgbClr val="201C20"/>
                </a:solidFill>
                <a:latin typeface="+mn-lt"/>
              </a:rPr>
              <a:t>Agentic AI Is Distinct</a:t>
            </a:r>
          </a:p>
          <a:p>
            <a:pPr>
              <a:buNone/>
            </a:pPr>
            <a:r>
              <a:rPr lang="en-US" sz="1300" b="0" i="0" u="none">
                <a:solidFill>
                  <a:srgbClr val="201C20"/>
                </a:solidFill>
                <a:latin typeface="+mn-lt"/>
              </a:rPr>
              <a:t>Autonomous, adaptive, goal-driven, tool-using, and collaborative — five traits that separate it from traditional AI</a:t>
            </a:r>
          </a:p>
        </p:txBody>
      </p:sp>
      <p:sp>
        <p:nvSpPr>
          <p:cNvPr id="7" name="Text Box 5"/>
          <p:cNvSpPr txBox="1"/>
          <p:nvPr/>
        </p:nvSpPr>
        <p:spPr>
          <a:xfrm>
            <a:off x="4699000" y="1625600"/>
            <a:ext cx="698500" cy="482600"/>
          </a:xfrm>
          <a:prstGeom prst="rect">
            <a:avLst/>
          </a:prstGeom>
        </p:spPr>
        <p:txBody>
          <a:bodyPr/>
          <a:lstStyle/>
          <a:p>
            <a:pPr>
              <a:buNone/>
            </a:pPr>
            <a:r>
              <a:rPr lang="en-US" sz="2400" b="0" i="0" u="none">
                <a:solidFill>
                  <a:schemeClr val="accent1"/>
                </a:solidFill>
                <a:latin typeface="+mj-lt"/>
              </a:rPr>
              <a:t>02</a:t>
            </a:r>
          </a:p>
        </p:txBody>
      </p:sp>
      <p:sp>
        <p:nvSpPr>
          <p:cNvPr id="8" name="Text Box 6"/>
          <p:cNvSpPr txBox="1"/>
          <p:nvPr/>
        </p:nvSpPr>
        <p:spPr>
          <a:xfrm>
            <a:off x="5461000" y="1574800"/>
            <a:ext cx="6032500" cy="660400"/>
          </a:xfrm>
          <a:prstGeom prst="rect">
            <a:avLst/>
          </a:prstGeom>
        </p:spPr>
        <p:txBody>
          <a:bodyPr/>
          <a:lstStyle/>
          <a:p>
            <a:pPr>
              <a:buNone/>
            </a:pPr>
            <a:r>
              <a:rPr lang="en-US" sz="1300" b="1" i="0" u="none">
                <a:solidFill>
                  <a:srgbClr val="201C20"/>
                </a:solidFill>
                <a:latin typeface="+mn-lt"/>
              </a:rPr>
              <a:t>A Paradigm Shift Is Underway</a:t>
            </a:r>
          </a:p>
          <a:p>
            <a:pPr>
              <a:buNone/>
            </a:pPr>
            <a:r>
              <a:rPr lang="en-US" sz="1300" b="0" i="0" u="none">
                <a:solidFill>
                  <a:srgbClr val="201C20"/>
                </a:solidFill>
                <a:latin typeface="+mn-lt"/>
              </a:rPr>
              <a:t>We're moving from static, prompt-response systems to agents that reason, plan, and act on their own</a:t>
            </a:r>
          </a:p>
        </p:txBody>
      </p:sp>
      <p:sp>
        <p:nvSpPr>
          <p:cNvPr id="9" name="Text Box 7"/>
          <p:cNvSpPr txBox="1"/>
          <p:nvPr/>
        </p:nvSpPr>
        <p:spPr>
          <a:xfrm>
            <a:off x="4699000" y="2743200"/>
            <a:ext cx="698500" cy="482600"/>
          </a:xfrm>
          <a:prstGeom prst="rect">
            <a:avLst/>
          </a:prstGeom>
        </p:spPr>
        <p:txBody>
          <a:bodyPr/>
          <a:lstStyle/>
          <a:p>
            <a:pPr>
              <a:buNone/>
            </a:pPr>
            <a:r>
              <a:rPr lang="en-US" sz="2400" b="0" i="0" u="none">
                <a:solidFill>
                  <a:schemeClr val="accent1"/>
                </a:solidFill>
                <a:latin typeface="+mj-lt"/>
              </a:rPr>
              <a:t>03</a:t>
            </a:r>
          </a:p>
        </p:txBody>
      </p:sp>
      <p:sp>
        <p:nvSpPr>
          <p:cNvPr id="10" name="Text Box 8"/>
          <p:cNvSpPr txBox="1"/>
          <p:nvPr/>
        </p:nvSpPr>
        <p:spPr>
          <a:xfrm>
            <a:off x="5461000" y="2692400"/>
            <a:ext cx="6032500" cy="660400"/>
          </a:xfrm>
          <a:prstGeom prst="rect">
            <a:avLst/>
          </a:prstGeom>
        </p:spPr>
        <p:txBody>
          <a:bodyPr/>
          <a:lstStyle/>
          <a:p>
            <a:pPr>
              <a:buNone/>
            </a:pPr>
            <a:r>
              <a:rPr lang="en-US" sz="1300" b="1" i="0" u="none">
                <a:solidFill>
                  <a:srgbClr val="201C20"/>
                </a:solidFill>
                <a:latin typeface="+mn-lt"/>
              </a:rPr>
              <a:t>Industries Are Already Transforming</a:t>
            </a:r>
          </a:p>
          <a:p>
            <a:pPr>
              <a:buNone/>
            </a:pPr>
            <a:r>
              <a:rPr lang="en-US" sz="1300" b="0" i="0" u="none">
                <a:solidFill>
                  <a:srgbClr val="201C20"/>
                </a:solidFill>
                <a:latin typeface="+mn-lt"/>
              </a:rPr>
              <a:t>Healthcare, finance, manufacturing, and more are deploying autonomous agents at scale today</a:t>
            </a:r>
          </a:p>
        </p:txBody>
      </p:sp>
      <p:sp>
        <p:nvSpPr>
          <p:cNvPr id="11" name="Text Box 9"/>
          <p:cNvSpPr txBox="1"/>
          <p:nvPr/>
        </p:nvSpPr>
        <p:spPr>
          <a:xfrm>
            <a:off x="4699000" y="3860800"/>
            <a:ext cx="698500" cy="482600"/>
          </a:xfrm>
          <a:prstGeom prst="rect">
            <a:avLst/>
          </a:prstGeom>
        </p:spPr>
        <p:txBody>
          <a:bodyPr/>
          <a:lstStyle/>
          <a:p>
            <a:pPr>
              <a:buNone/>
            </a:pPr>
            <a:r>
              <a:rPr lang="en-US" sz="2400" b="0" i="0" u="none">
                <a:solidFill>
                  <a:schemeClr val="accent1"/>
                </a:solidFill>
                <a:latin typeface="+mj-lt"/>
              </a:rPr>
              <a:t>04</a:t>
            </a:r>
          </a:p>
        </p:txBody>
      </p:sp>
      <p:sp>
        <p:nvSpPr>
          <p:cNvPr id="12" name="Text Box 10"/>
          <p:cNvSpPr txBox="1"/>
          <p:nvPr/>
        </p:nvSpPr>
        <p:spPr>
          <a:xfrm>
            <a:off x="5461000" y="3810000"/>
            <a:ext cx="6032500" cy="660400"/>
          </a:xfrm>
          <a:prstGeom prst="rect">
            <a:avLst/>
          </a:prstGeom>
        </p:spPr>
        <p:txBody>
          <a:bodyPr/>
          <a:lstStyle/>
          <a:p>
            <a:pPr>
              <a:buNone/>
            </a:pPr>
            <a:r>
              <a:rPr lang="en-US" sz="1300" b="1" i="0" u="none">
                <a:solidFill>
                  <a:srgbClr val="201C20"/>
                </a:solidFill>
                <a:latin typeface="+mn-lt"/>
              </a:rPr>
              <a:t>The Architecture Enables Autonomy</a:t>
            </a:r>
          </a:p>
          <a:p>
            <a:pPr>
              <a:buNone/>
            </a:pPr>
            <a:r>
              <a:rPr lang="en-US" sz="1300" b="0" i="0" u="none">
                <a:solidFill>
                  <a:srgbClr val="201C20"/>
                </a:solidFill>
                <a:latin typeface="+mn-lt"/>
              </a:rPr>
              <a:t>The perception–reasoning–action loop is the engine, and the market is responding with rapid investment</a:t>
            </a:r>
          </a:p>
        </p:txBody>
      </p:sp>
      <p:sp>
        <p:nvSpPr>
          <p:cNvPr id="13" name="Text Box 11"/>
          <p:cNvSpPr txBox="1"/>
          <p:nvPr/>
        </p:nvSpPr>
        <p:spPr>
          <a:xfrm>
            <a:off x="4699000" y="4978400"/>
            <a:ext cx="698500" cy="482600"/>
          </a:xfrm>
          <a:prstGeom prst="rect">
            <a:avLst/>
          </a:prstGeom>
        </p:spPr>
        <p:txBody>
          <a:bodyPr/>
          <a:lstStyle/>
          <a:p>
            <a:pPr>
              <a:buNone/>
            </a:pPr>
            <a:r>
              <a:rPr lang="en-US" sz="2400" b="0" i="0" u="none">
                <a:solidFill>
                  <a:schemeClr val="accent1"/>
                </a:solidFill>
                <a:latin typeface="+mj-lt"/>
              </a:rPr>
              <a:t>05</a:t>
            </a:r>
          </a:p>
        </p:txBody>
      </p:sp>
      <p:sp>
        <p:nvSpPr>
          <p:cNvPr id="14" name="Text Box 12"/>
          <p:cNvSpPr txBox="1"/>
          <p:nvPr/>
        </p:nvSpPr>
        <p:spPr>
          <a:xfrm>
            <a:off x="5461000" y="4927600"/>
            <a:ext cx="6032500" cy="660400"/>
          </a:xfrm>
          <a:prstGeom prst="rect">
            <a:avLst/>
          </a:prstGeom>
        </p:spPr>
        <p:txBody>
          <a:bodyPr/>
          <a:lstStyle/>
          <a:p>
            <a:pPr>
              <a:buNone/>
            </a:pPr>
            <a:r>
              <a:rPr lang="en-US" sz="1300" b="1" i="0" u="none">
                <a:solidFill>
                  <a:srgbClr val="201C20"/>
                </a:solidFill>
                <a:latin typeface="+mn-lt"/>
              </a:rPr>
              <a:t>Governance Is Non-Negotiable</a:t>
            </a:r>
          </a:p>
          <a:p>
            <a:pPr>
              <a:buNone/>
            </a:pPr>
            <a:r>
              <a:rPr lang="en-US" sz="1300" b="0" i="0" u="none">
                <a:solidFill>
                  <a:srgbClr val="201C20"/>
                </a:solidFill>
                <a:latin typeface="+mn-lt"/>
              </a:rPr>
              <a:t>The opportunity is massive, but responsible adoption and oversight will determine who leads and who falls behind</a:t>
            </a:r>
          </a:p>
        </p:txBody>
      </p:sp>
      <p:cxnSp>
        <p:nvCxnSpPr>
          <p:cNvPr id="15" name="Connector 1"/>
          <p:cNvCxnSpPr/>
          <p:nvPr/>
        </p:nvCxnSpPr>
        <p:spPr>
          <a:xfrm>
            <a:off x="4699000" y="1320800"/>
            <a:ext cx="6731000" cy="0"/>
          </a:xfrm>
          <a:prstGeom prst="line">
            <a:avLst/>
          </a:prstGeom>
          <a:ln w="6350">
            <a:solidFill>
              <a:srgbClr val="DDDDE5"/>
            </a:solidFill>
          </a:ln>
        </p:spPr>
      </p:cxnSp>
      <p:cxnSp>
        <p:nvCxnSpPr>
          <p:cNvPr id="16" name="Connector 2"/>
          <p:cNvCxnSpPr/>
          <p:nvPr/>
        </p:nvCxnSpPr>
        <p:spPr>
          <a:xfrm>
            <a:off x="4699000" y="2438400"/>
            <a:ext cx="6731000" cy="0"/>
          </a:xfrm>
          <a:prstGeom prst="line">
            <a:avLst/>
          </a:prstGeom>
          <a:ln w="6350">
            <a:solidFill>
              <a:srgbClr val="DDDDE5"/>
            </a:solidFill>
          </a:ln>
        </p:spPr>
      </p:cxnSp>
      <p:cxnSp>
        <p:nvCxnSpPr>
          <p:cNvPr id="17" name="Connector 3"/>
          <p:cNvCxnSpPr/>
          <p:nvPr/>
        </p:nvCxnSpPr>
        <p:spPr>
          <a:xfrm>
            <a:off x="4699000" y="3556000"/>
            <a:ext cx="6731000" cy="0"/>
          </a:xfrm>
          <a:prstGeom prst="line">
            <a:avLst/>
          </a:prstGeom>
          <a:ln w="6350">
            <a:solidFill>
              <a:srgbClr val="DDDDE5"/>
            </a:solidFill>
          </a:ln>
        </p:spPr>
      </p:cxnSp>
      <p:cxnSp>
        <p:nvCxnSpPr>
          <p:cNvPr id="18" name="Connector 4"/>
          <p:cNvCxnSpPr/>
          <p:nvPr/>
        </p:nvCxnSpPr>
        <p:spPr>
          <a:xfrm>
            <a:off x="4699000" y="4673600"/>
            <a:ext cx="6731000" cy="0"/>
          </a:xfrm>
          <a:prstGeom prst="line">
            <a:avLst/>
          </a:prstGeom>
          <a:ln w="6350">
            <a:solidFill>
              <a:srgbClr val="DDDDE5"/>
            </a:solidFill>
          </a:ln>
        </p:spPr>
      </p:cxnSp>
    </p:spTree>
    <p:extLst>
      <p:ext uri="{BB962C8B-B14F-4D97-AF65-F5344CB8AC3E}">
        <p14:creationId xmlns:p14="http://schemas.microsoft.com/office/powerpoint/2010/main" val="4271060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19100" y="254000"/>
            <a:ext cx="3581400" cy="419100"/>
          </a:xfrm>
          <a:prstGeom prst="rect">
            <a:avLst/>
          </a:prstGeom>
        </p:spPr>
        <p:txBody>
          <a:bodyPr lIns="0" tIns="45720" rIns="91440" bIns="45720"/>
          <a:lstStyle/>
          <a:p>
            <a:pPr>
              <a:buNone/>
            </a:pPr>
            <a:r>
              <a:rPr lang="en-US" sz="1400" b="0" i="0" u="none">
                <a:solidFill>
                  <a:schemeClr val="dk2"/>
                </a:solidFill>
                <a:latin typeface="+mn-lt"/>
              </a:rPr>
              <a:t>References</a:t>
            </a:r>
          </a:p>
        </p:txBody>
      </p:sp>
      <p:sp>
        <p:nvSpPr>
          <p:cNvPr id="3" name="Text Box 2"/>
          <p:cNvSpPr txBox="1"/>
          <p:nvPr/>
        </p:nvSpPr>
        <p:spPr>
          <a:xfrm>
            <a:off x="419100" y="635000"/>
            <a:ext cx="11353800" cy="635000"/>
          </a:xfrm>
          <a:prstGeom prst="rect">
            <a:avLst/>
          </a:prstGeom>
        </p:spPr>
        <p:txBody>
          <a:bodyPr lIns="0" tIns="45720" rIns="91440" bIns="45720"/>
          <a:lstStyle/>
          <a:p>
            <a:pPr>
              <a:buNone/>
            </a:pPr>
            <a:r>
              <a:rPr lang="en-US" sz="3000" b="1" i="0" u="none">
                <a:solidFill>
                  <a:schemeClr val="dk1"/>
                </a:solidFill>
                <a:latin typeface="+mj-lt"/>
              </a:rPr>
              <a:t>Citations &amp; Further Reading</a:t>
            </a:r>
          </a:p>
        </p:txBody>
      </p:sp>
      <p:sp>
        <p:nvSpPr>
          <p:cNvPr id="4" name="Text Box 3"/>
          <p:cNvSpPr txBox="1"/>
          <p:nvPr/>
        </p:nvSpPr>
        <p:spPr>
          <a:xfrm>
            <a:off x="419100" y="1397000"/>
            <a:ext cx="11353800" cy="5207000"/>
          </a:xfrm>
          <a:prstGeom prst="rect">
            <a:avLst/>
          </a:prstGeom>
        </p:spPr>
        <p:txBody>
          <a:bodyPr lIns="0" tIns="63500" rIns="127000" bIns="63500"/>
          <a:lstStyle/>
          <a:p>
            <a:pPr>
              <a:buNone/>
            </a:pPr>
            <a:r>
              <a:rPr lang="en-US" sz="1200" b="1" i="0" u="none">
                <a:solidFill>
                  <a:schemeClr val="dk1"/>
                </a:solidFill>
                <a:latin typeface="+mn-lt"/>
              </a:rPr>
              <a:t>1.</a:t>
            </a:r>
            <a:r>
              <a:rPr lang="en-US" sz="1200" b="0" i="0" u="none">
                <a:solidFill>
                  <a:schemeClr val="dk1"/>
                </a:solidFill>
                <a:latin typeface="+mn-lt"/>
              </a:rPr>
              <a:t>  Lou, B., Zhang, Y., et al. (2025). </a:t>
            </a:r>
            <a:r>
              <a:rPr lang="en-US" sz="1200" b="0" i="1" u="none">
                <a:solidFill>
                  <a:schemeClr val="dk1"/>
                </a:solidFill>
                <a:latin typeface="+mn-lt"/>
              </a:rPr>
              <a:t>"Unraveling Human-AI Teaming: A Review and Outlook."</a:t>
            </a:r>
            <a:r>
              <a:rPr lang="en-US" sz="1200" b="0" i="0" u="none">
                <a:solidFill>
                  <a:schemeClr val="dk1"/>
                </a:solidFill>
                <a:latin typeface="+mn-lt"/>
              </a:rPr>
              <a:t> arXiv preprint arXiv:2504.05755.</a:t>
            </a:r>
          </a:p>
          <a:p>
            <a:pPr>
              <a:buNone/>
            </a:pPr>
            <a:endParaRPr lang="en-US" sz="1200" b="0" i="0" u="none">
              <a:solidFill>
                <a:schemeClr val="dk1"/>
              </a:solidFill>
              <a:latin typeface="+mn-lt"/>
            </a:endParaRPr>
          </a:p>
          <a:p>
            <a:pPr>
              <a:buNone/>
            </a:pPr>
            <a:r>
              <a:rPr lang="en-US" sz="1200" b="1" i="0" u="none">
                <a:solidFill>
                  <a:schemeClr val="dk1"/>
                </a:solidFill>
                <a:latin typeface="+mn-lt"/>
              </a:rPr>
              <a:t>2.</a:t>
            </a:r>
            <a:r>
              <a:rPr lang="en-US" sz="1200" b="0" i="0" u="none">
                <a:solidFill>
                  <a:schemeClr val="dk1"/>
                </a:solidFill>
                <a:latin typeface="+mn-lt"/>
              </a:rPr>
              <a:t>  Naik, S., Toombs, A., Snellinger, A., Saponas, S., &amp; Hall, A. K. (2025). </a:t>
            </a:r>
            <a:r>
              <a:rPr lang="en-US" sz="1200" b="0" i="1" u="none">
                <a:solidFill>
                  <a:schemeClr val="dk1"/>
                </a:solidFill>
                <a:latin typeface="+mn-lt"/>
              </a:rPr>
              <a:t>"Exploring Human-AI Collaboration Using Mental Models of Early Adopters of Multi-Agent Generative AI Tools."</a:t>
            </a:r>
            <a:r>
              <a:rPr lang="en-US" sz="1200" b="0" i="0" u="none">
                <a:solidFill>
                  <a:schemeClr val="dk1"/>
                </a:solidFill>
                <a:latin typeface="+mn-lt"/>
              </a:rPr>
              <a:t> arXiv preprint arXiv:2510.06224.</a:t>
            </a:r>
          </a:p>
          <a:p>
            <a:pPr>
              <a:buNone/>
            </a:pPr>
            <a:endParaRPr lang="en-US" sz="1200" b="0" i="0" u="none">
              <a:solidFill>
                <a:schemeClr val="dk1"/>
              </a:solidFill>
              <a:latin typeface="+mn-lt"/>
            </a:endParaRPr>
          </a:p>
          <a:p>
            <a:pPr>
              <a:buNone/>
            </a:pPr>
            <a:r>
              <a:rPr lang="en-US" sz="1200" b="1" i="0" u="none">
                <a:solidFill>
                  <a:schemeClr val="dk1"/>
                </a:solidFill>
                <a:latin typeface="+mn-lt"/>
              </a:rPr>
              <a:t>3.</a:t>
            </a:r>
            <a:r>
              <a:rPr lang="en-US" sz="1200" b="0" i="0" u="none">
                <a:solidFill>
                  <a:schemeClr val="dk1"/>
                </a:solidFill>
                <a:latin typeface="+mn-lt"/>
              </a:rPr>
              <a:t>  Pandey, R. (2025). </a:t>
            </a:r>
            <a:r>
              <a:rPr lang="en-US" sz="1200" b="0" i="1" u="none">
                <a:solidFill>
                  <a:schemeClr val="dk1"/>
                </a:solidFill>
                <a:latin typeface="+mn-lt"/>
              </a:rPr>
              <a:t>"The Agentic AI Governance Framework: A Universal Model for Risk, Accountability, and Compliance in Autonomous Systems."</a:t>
            </a:r>
            <a:r>
              <a:rPr lang="en-US" sz="1200" b="0" i="0" u="none">
                <a:solidFill>
                  <a:schemeClr val="dk1"/>
                </a:solidFill>
                <a:latin typeface="+mn-lt"/>
              </a:rPr>
              <a:t> SSRN, doi:10.2139/ssrn.5652350.</a:t>
            </a:r>
          </a:p>
          <a:p>
            <a:pPr>
              <a:buNone/>
            </a:pPr>
            <a:endParaRPr lang="en-US" sz="1200" b="0" i="0" u="none">
              <a:solidFill>
                <a:schemeClr val="dk1"/>
              </a:solidFill>
              <a:latin typeface="+mn-lt"/>
            </a:endParaRPr>
          </a:p>
          <a:p>
            <a:pPr>
              <a:buNone/>
            </a:pPr>
            <a:r>
              <a:rPr lang="en-US" sz="1200" b="1" i="0" u="none">
                <a:solidFill>
                  <a:schemeClr val="dk1"/>
                </a:solidFill>
                <a:latin typeface="+mn-lt"/>
              </a:rPr>
              <a:t>4.</a:t>
            </a:r>
            <a:r>
              <a:rPr lang="en-US" sz="1200" b="0" i="0" u="none">
                <a:solidFill>
                  <a:schemeClr val="dk1"/>
                </a:solidFill>
                <a:latin typeface="+mn-lt"/>
              </a:rPr>
              <a:t>  OWASP Foundation. (2025). </a:t>
            </a:r>
            <a:r>
              <a:rPr lang="en-US" sz="1200" b="0" i="1" u="none">
                <a:solidFill>
                  <a:schemeClr val="dk1"/>
                </a:solidFill>
                <a:latin typeface="+mn-lt"/>
              </a:rPr>
              <a:t>"State of Agentic AI Security and Governance 1.0."</a:t>
            </a:r>
            <a:r>
              <a:rPr lang="en-US" sz="1200" b="0" i="0" u="none">
                <a:solidFill>
                  <a:schemeClr val="dk1"/>
                </a:solidFill>
                <a:latin typeface="+mn-lt"/>
              </a:rPr>
              <a:t> OWASP GenAI Security Project.</a:t>
            </a:r>
          </a:p>
          <a:p>
            <a:pPr>
              <a:buNone/>
            </a:pPr>
            <a:endParaRPr lang="en-US" sz="1200" b="0" i="0" u="none">
              <a:solidFill>
                <a:schemeClr val="dk1"/>
              </a:solidFill>
              <a:latin typeface="+mn-lt"/>
            </a:endParaRPr>
          </a:p>
          <a:p>
            <a:pPr>
              <a:buNone/>
            </a:pPr>
            <a:r>
              <a:rPr lang="en-US" sz="1200" b="1" i="0" u="none">
                <a:solidFill>
                  <a:schemeClr val="dk1"/>
                </a:solidFill>
                <a:latin typeface="+mn-lt"/>
              </a:rPr>
              <a:t>5.</a:t>
            </a:r>
            <a:r>
              <a:rPr lang="en-US" sz="1200" b="0" i="0" u="none">
                <a:solidFill>
                  <a:schemeClr val="dk1"/>
                </a:solidFill>
                <a:latin typeface="+mn-lt"/>
              </a:rPr>
              <a:t>  KPMG LLP. (2025). </a:t>
            </a:r>
            <a:r>
              <a:rPr lang="en-US" sz="1200" b="0" i="1" u="none">
                <a:solidFill>
                  <a:schemeClr val="dk1"/>
                </a:solidFill>
                <a:latin typeface="+mn-lt"/>
              </a:rPr>
              <a:t>"AI Governance for the Agentic AI Era."</a:t>
            </a:r>
            <a:r>
              <a:rPr lang="en-US" sz="1200" b="0" i="0" u="none">
                <a:solidFill>
                  <a:schemeClr val="dk1"/>
                </a:solidFill>
                <a:latin typeface="+mn-lt"/>
              </a:rPr>
              <a:t> KPMG Trusted AI Framework Report, July 2025.</a:t>
            </a:r>
          </a:p>
        </p:txBody>
      </p:sp>
      <p:sp>
        <p:nvSpPr>
          <p:cNvPr id="5" name="Rectangle 5 1">
            <a:extLst>
              <a:ext uri="{FF2B5EF4-FFF2-40B4-BE49-F238E27FC236}">
                <a16:creationId xmlns:a16="http://schemas.microsoft.com/office/drawing/2014/main" id="{3FF349F7-8C42-C386-3FB8-F0776124100E}"/>
              </a:ext>
            </a:extLst>
          </p:cNvPr>
          <p:cNvSpPr/>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cxnSp>
        <p:nvCxnSpPr>
          <p:cNvPr id="6" name="Connector 1"/>
          <p:cNvCxnSpPr/>
          <p:nvPr/>
        </p:nvCxnSpPr>
        <p:spPr>
          <a:xfrm>
            <a:off x="419100" y="1308100"/>
            <a:ext cx="11353800" cy="0"/>
          </a:xfrm>
          <a:prstGeom prst="line">
            <a:avLst/>
          </a:prstGeom>
          <a:ln w="6350">
            <a:solidFill>
              <a:srgbClr val="DDDDE5"/>
            </a:solidFill>
          </a:ln>
        </p:spPr>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2.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3.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image"/>
</p:tagLst>
</file>

<file path=ppt/tags/tag5.xml><?xml version="1.0" encoding="utf-8"?>
<p:tagLst xmlns:a="http://schemas.openxmlformats.org/drawingml/2006/main" xmlns:r="http://schemas.openxmlformats.org/officeDocument/2006/relationships" xmlns:p="http://schemas.openxmlformats.org/presentationml/2006/main">
  <p:tag name="PLUS_ID" val="presentation_subtitle"/>
</p:tagLst>
</file>

<file path=ppt/tags/tag6.xml><?xml version="1.0" encoding="utf-8"?>
<p:tagLst xmlns:a="http://schemas.openxmlformats.org/drawingml/2006/main" xmlns:r="http://schemas.openxmlformats.org/officeDocument/2006/relationships" xmlns:p="http://schemas.openxmlformats.org/presentationml/2006/main">
  <p:tag name="PLUS_ID" val="chapter"/>
</p:tagLst>
</file>

<file path=ppt/tags/tag7.xml><?xml version="1.0" encoding="utf-8"?>
<p:tagLst xmlns:a="http://schemas.openxmlformats.org/drawingml/2006/main" xmlns:r="http://schemas.openxmlformats.org/officeDocument/2006/relationships" xmlns:p="http://schemas.openxmlformats.org/presentationml/2006/main">
  <p:tag name="PLUS_ID" val="title"/>
</p:tagLst>
</file>

<file path=ppt/tags/tag8.xml><?xml version="1.0" encoding="utf-8"?>
<p:tagLst xmlns:a="http://schemas.openxmlformats.org/drawingml/2006/main" xmlns:r="http://schemas.openxmlformats.org/officeDocument/2006/relationships" xmlns:p="http://schemas.openxmlformats.org/presentationml/2006/main">
  <p:tag name="PLUS_ID" val="logo"/>
</p:tagLst>
</file>

<file path=ppt/tags/tag9.xml><?xml version="1.0" encoding="utf-8"?>
<p:tagLst xmlns:a="http://schemas.openxmlformats.org/drawingml/2006/main" xmlns:r="http://schemas.openxmlformats.org/officeDocument/2006/relationships" xmlns:p="http://schemas.openxmlformats.org/presentationml/2006/main">
  <p:tag name="PLUS_ID" val="detail_0"/>
</p:tagLst>
</file>

<file path=ppt/tags/tag10.xml><?xml version="1.0" encoding="utf-8"?>
<p:tagLst xmlns:a="http://schemas.openxmlformats.org/drawingml/2006/main" xmlns:r="http://schemas.openxmlformats.org/officeDocument/2006/relationships" xmlns:p="http://schemas.openxmlformats.org/presentationml/2006/main">
  <p:tag name="PLUS_ID" val="header_0"/>
</p:tagLst>
</file>

<file path=ppt/tags/tag11.xml><?xml version="1.0" encoding="utf-8"?>
<p:tagLst xmlns:a="http://schemas.openxmlformats.org/drawingml/2006/main" xmlns:r="http://schemas.openxmlformats.org/officeDocument/2006/relationships" xmlns:p="http://schemas.openxmlformats.org/presentationml/2006/main">
  <p:tag name="PLUS_ID" val="chapter"/>
</p:tagLst>
</file>

<file path=ppt/tags/tag12.xml><?xml version="1.0" encoding="utf-8"?>
<p:tagLst xmlns:a="http://schemas.openxmlformats.org/drawingml/2006/main" xmlns:r="http://schemas.openxmlformats.org/officeDocument/2006/relationships" xmlns:p="http://schemas.openxmlformats.org/presentationml/2006/main">
  <p:tag name="PLUS_ID" val="title"/>
</p:tagLst>
</file>

<file path=ppt/tags/tag13.xml><?xml version="1.0" encoding="utf-8"?>
<p:tagLst xmlns:a="http://schemas.openxmlformats.org/drawingml/2006/main" xmlns:r="http://schemas.openxmlformats.org/officeDocument/2006/relationships" xmlns:p="http://schemas.openxmlformats.org/presentationml/2006/main">
  <p:tag name="PLUS_ID" val="icon_0"/>
</p:tagLst>
</file>

<file path=ppt/tags/tag14.xml><?xml version="1.0" encoding="utf-8"?>
<p:tagLst xmlns:a="http://schemas.openxmlformats.org/drawingml/2006/main" xmlns:r="http://schemas.openxmlformats.org/officeDocument/2006/relationships" xmlns:p="http://schemas.openxmlformats.org/presentationml/2006/main">
  <p:tag name="PLUS_ID" val="icon_1"/>
</p:tagLst>
</file>

<file path=ppt/tags/tag15.xml><?xml version="1.0" encoding="utf-8"?>
<p:tagLst xmlns:a="http://schemas.openxmlformats.org/drawingml/2006/main" xmlns:r="http://schemas.openxmlformats.org/officeDocument/2006/relationships" xmlns:p="http://schemas.openxmlformats.org/presentationml/2006/main">
  <p:tag name="PLUS_ID" val="icon_2"/>
</p:tagLst>
</file>

<file path=ppt/tags/tag16.xml><?xml version="1.0" encoding="utf-8"?>
<p:tagLst xmlns:a="http://schemas.openxmlformats.org/drawingml/2006/main" xmlns:r="http://schemas.openxmlformats.org/officeDocument/2006/relationships" xmlns:p="http://schemas.openxmlformats.org/presentationml/2006/main">
  <p:tag name="PLUS_ID" val="icon_3"/>
</p:tagLst>
</file>

<file path=ppt/tags/tag17.xml><?xml version="1.0" encoding="utf-8"?>
<p:tagLst xmlns:a="http://schemas.openxmlformats.org/drawingml/2006/main" xmlns:r="http://schemas.openxmlformats.org/officeDocument/2006/relationships" xmlns:p="http://schemas.openxmlformats.org/presentationml/2006/main">
  <p:tag name="PLUS_ID" val="logo"/>
</p:tagLst>
</file>

<file path=ppt/tags/tag18.xml><?xml version="1.0" encoding="utf-8"?>
<p:tagLst xmlns:a="http://schemas.openxmlformats.org/drawingml/2006/main" xmlns:r="http://schemas.openxmlformats.org/officeDocument/2006/relationships" xmlns:p="http://schemas.openxmlformats.org/presentationml/2006/main">
  <p:tag name="PLUS_ID" val="icon_4"/>
</p:tagLst>
</file>

<file path=ppt/tags/tag19.xml><?xml version="1.0" encoding="utf-8"?>
<p:tagLst xmlns:a="http://schemas.openxmlformats.org/drawingml/2006/main" xmlns:r="http://schemas.openxmlformats.org/officeDocument/2006/relationships" xmlns:p="http://schemas.openxmlformats.org/presentationml/2006/main">
  <p:tag name="PLUS_ID" val="detail_1"/>
</p:tagLst>
</file>

<file path=ppt/tags/tag20.xml><?xml version="1.0" encoding="utf-8"?>
<p:tagLst xmlns:a="http://schemas.openxmlformats.org/drawingml/2006/main" xmlns:r="http://schemas.openxmlformats.org/officeDocument/2006/relationships" xmlns:p="http://schemas.openxmlformats.org/presentationml/2006/main">
  <p:tag name="PLUS_ID" val="detail_2"/>
</p:tagLst>
</file>

<file path=ppt/tags/tag21.xml><?xml version="1.0" encoding="utf-8"?>
<p:tagLst xmlns:a="http://schemas.openxmlformats.org/drawingml/2006/main" xmlns:r="http://schemas.openxmlformats.org/officeDocument/2006/relationships" xmlns:p="http://schemas.openxmlformats.org/presentationml/2006/main">
  <p:tag name="PLUS_ID" val="header_1"/>
</p:tagLst>
</file>

<file path=ppt/tags/tag22.xml><?xml version="1.0" encoding="utf-8"?>
<p:tagLst xmlns:a="http://schemas.openxmlformats.org/drawingml/2006/main" xmlns:r="http://schemas.openxmlformats.org/officeDocument/2006/relationships" xmlns:p="http://schemas.openxmlformats.org/presentationml/2006/main">
  <p:tag name="PLUS_ID" val="header_2"/>
</p:tagLst>
</file>

<file path=ppt/tags/tag23.xml><?xml version="1.0" encoding="utf-8"?>
<p:tagLst xmlns:a="http://schemas.openxmlformats.org/drawingml/2006/main" xmlns:r="http://schemas.openxmlformats.org/officeDocument/2006/relationships" xmlns:p="http://schemas.openxmlformats.org/presentationml/2006/main">
  <p:tag name="PLUS_ID" val="detail_3"/>
</p:tagLst>
</file>

<file path=ppt/tags/tag24.xml><?xml version="1.0" encoding="utf-8"?>
<p:tagLst xmlns:a="http://schemas.openxmlformats.org/drawingml/2006/main" xmlns:r="http://schemas.openxmlformats.org/officeDocument/2006/relationships" xmlns:p="http://schemas.openxmlformats.org/presentationml/2006/main">
  <p:tag name="PLUS_ID" val="header_3"/>
</p:tagLst>
</file>

<file path=ppt/tags/tag25.xml><?xml version="1.0" encoding="utf-8"?>
<p:tagLst xmlns:a="http://schemas.openxmlformats.org/drawingml/2006/main" xmlns:r="http://schemas.openxmlformats.org/officeDocument/2006/relationships" xmlns:p="http://schemas.openxmlformats.org/presentationml/2006/main">
  <p:tag name="PLUS_ID" val="detail_4"/>
</p:tagLst>
</file>

<file path=ppt/tags/tag26.xml><?xml version="1.0" encoding="utf-8"?>
<p:tagLst xmlns:a="http://schemas.openxmlformats.org/drawingml/2006/main" xmlns:r="http://schemas.openxmlformats.org/officeDocument/2006/relationships" xmlns:p="http://schemas.openxmlformats.org/presentationml/2006/main">
  <p:tag name="PLUS_ID" val="header_4"/>
</p:tagLst>
</file>

<file path=ppt/tags/tag27.xml><?xml version="1.0" encoding="utf-8"?>
<p:tagLst xmlns:a="http://schemas.openxmlformats.org/drawingml/2006/main" xmlns:r="http://schemas.openxmlformats.org/officeDocument/2006/relationships" xmlns:p="http://schemas.openxmlformats.org/presentationml/2006/main">
  <p:tag name="PLUS_ID" val="title"/>
</p:tagLst>
</file>

<file path=ppt/tags/tag28.xml><?xml version="1.0" encoding="utf-8"?>
<p:tagLst xmlns:a="http://schemas.openxmlformats.org/drawingml/2006/main" xmlns:r="http://schemas.openxmlformats.org/officeDocument/2006/relationships" xmlns:p="http://schemas.openxmlformats.org/presentationml/2006/main">
  <p:tag name="PLUS_ID" val="chapter"/>
</p:tagLst>
</file>

<file path=ppt/tags/tag29.xml><?xml version="1.0" encoding="utf-8"?>
<p:tagLst xmlns:a="http://schemas.openxmlformats.org/drawingml/2006/main" xmlns:r="http://schemas.openxmlformats.org/officeDocument/2006/relationships" xmlns:p="http://schemas.openxmlformats.org/presentationml/2006/main">
  <p:tag name="PLUS_ID" val="image_0"/>
</p:tagLst>
</file>

<file path=ppt/tags/tag30.xml><?xml version="1.0" encoding="utf-8"?>
<p:tagLst xmlns:a="http://schemas.openxmlformats.org/drawingml/2006/main" xmlns:r="http://schemas.openxmlformats.org/officeDocument/2006/relationships" xmlns:p="http://schemas.openxmlformats.org/presentationml/2006/main">
  <p:tag name="PLUS_ID" val="image_1"/>
</p:tagLst>
</file>

<file path=ppt/tags/tag31.xml><?xml version="1.0" encoding="utf-8"?>
<p:tagLst xmlns:a="http://schemas.openxmlformats.org/drawingml/2006/main" xmlns:r="http://schemas.openxmlformats.org/officeDocument/2006/relationships" xmlns:p="http://schemas.openxmlformats.org/presentationml/2006/main">
  <p:tag name="PLUS_ID" val="image_2"/>
</p:tagLst>
</file>

<file path=ppt/tags/tag32.xml><?xml version="1.0" encoding="utf-8"?>
<p:tagLst xmlns:a="http://schemas.openxmlformats.org/drawingml/2006/main" xmlns:r="http://schemas.openxmlformats.org/officeDocument/2006/relationships" xmlns:p="http://schemas.openxmlformats.org/presentationml/2006/main">
  <p:tag name="PLUS_ID" val="image_3"/>
</p:tagLst>
</file>

<file path=ppt/tags/tag33.xml><?xml version="1.0" encoding="utf-8"?>
<p:tagLst xmlns:a="http://schemas.openxmlformats.org/drawingml/2006/main" xmlns:r="http://schemas.openxmlformats.org/officeDocument/2006/relationships" xmlns:p="http://schemas.openxmlformats.org/presentationml/2006/main">
  <p:tag name="PLUS_ID" val="title"/>
</p:tagLst>
</file>

<file path=ppt/tags/tag34.xml><?xml version="1.0" encoding="utf-8"?>
<p:tagLst xmlns:a="http://schemas.openxmlformats.org/drawingml/2006/main" xmlns:r="http://schemas.openxmlformats.org/officeDocument/2006/relationships" xmlns:p="http://schemas.openxmlformats.org/presentationml/2006/main">
  <p:tag name="PLUS_ID" val="logo"/>
</p:tagLst>
</file>

<file path=ppt/tags/tag35.xml><?xml version="1.0" encoding="utf-8"?>
<p:tagLst xmlns:a="http://schemas.openxmlformats.org/drawingml/2006/main" xmlns:r="http://schemas.openxmlformats.org/officeDocument/2006/relationships" xmlns:p="http://schemas.openxmlformats.org/presentationml/2006/main">
  <p:tag name="PLUS_ID" val="chapter"/>
</p:tagLst>
</file>

<file path=ppt/tags/tag36.xml><?xml version="1.0" encoding="utf-8"?>
<p:tagLst xmlns:a="http://schemas.openxmlformats.org/drawingml/2006/main" xmlns:r="http://schemas.openxmlformats.org/officeDocument/2006/relationships" xmlns:p="http://schemas.openxmlformats.org/presentationml/2006/main">
  <p:tag name="PLUS_ID" val="detail_0"/>
</p:tagLst>
</file>

<file path=ppt/tags/tag37.xml><?xml version="1.0" encoding="utf-8"?>
<p:tagLst xmlns:a="http://schemas.openxmlformats.org/drawingml/2006/main" xmlns:r="http://schemas.openxmlformats.org/officeDocument/2006/relationships" xmlns:p="http://schemas.openxmlformats.org/presentationml/2006/main">
  <p:tag name="PLUS_ID" val="detail_1"/>
</p:tagLst>
</file>

<file path=ppt/tags/tag38.xml><?xml version="1.0" encoding="utf-8"?>
<p:tagLst xmlns:a="http://schemas.openxmlformats.org/drawingml/2006/main" xmlns:r="http://schemas.openxmlformats.org/officeDocument/2006/relationships" xmlns:p="http://schemas.openxmlformats.org/presentationml/2006/main">
  <p:tag name="PLUS_ID" val="header_0"/>
</p:tagLst>
</file>

<file path=ppt/tags/tag39.xml><?xml version="1.0" encoding="utf-8"?>
<p:tagLst xmlns:a="http://schemas.openxmlformats.org/drawingml/2006/main" xmlns:r="http://schemas.openxmlformats.org/officeDocument/2006/relationships" xmlns:p="http://schemas.openxmlformats.org/presentationml/2006/main">
  <p:tag name="PLUS_ID" val="header_1"/>
</p:tagLst>
</file>

<file path=ppt/tags/tag40.xml><?xml version="1.0" encoding="utf-8"?>
<p:tagLst xmlns:a="http://schemas.openxmlformats.org/drawingml/2006/main" xmlns:r="http://schemas.openxmlformats.org/officeDocument/2006/relationships" xmlns:p="http://schemas.openxmlformats.org/presentationml/2006/main">
  <p:tag name="PLUS_ID" val="detail_2"/>
</p:tagLst>
</file>

<file path=ppt/tags/tag41.xml><?xml version="1.0" encoding="utf-8"?>
<p:tagLst xmlns:a="http://schemas.openxmlformats.org/drawingml/2006/main" xmlns:r="http://schemas.openxmlformats.org/officeDocument/2006/relationships" xmlns:p="http://schemas.openxmlformats.org/presentationml/2006/main">
  <p:tag name="PLUS_ID" val="detail_3"/>
</p:tagLst>
</file>

<file path=ppt/tags/tag42.xml><?xml version="1.0" encoding="utf-8"?>
<p:tagLst xmlns:a="http://schemas.openxmlformats.org/drawingml/2006/main" xmlns:r="http://schemas.openxmlformats.org/officeDocument/2006/relationships" xmlns:p="http://schemas.openxmlformats.org/presentationml/2006/main">
  <p:tag name="PLUS_ID" val="header_2"/>
</p:tagLst>
</file>

<file path=ppt/tags/tag43.xml><?xml version="1.0" encoding="utf-8"?>
<p:tagLst xmlns:a="http://schemas.openxmlformats.org/drawingml/2006/main" xmlns:r="http://schemas.openxmlformats.org/officeDocument/2006/relationships" xmlns:p="http://schemas.openxmlformats.org/presentationml/2006/main">
  <p:tag name="PLUS_ID" val="header_3"/>
</p:tagLst>
</file>

<file path=ppt/tags/tag44.xml><?xml version="1.0" encoding="utf-8"?>
<p:tagLst xmlns:a="http://schemas.openxmlformats.org/drawingml/2006/main" xmlns:r="http://schemas.openxmlformats.org/officeDocument/2006/relationships" xmlns:p="http://schemas.openxmlformats.org/presentationml/2006/main">
  <p:tag name="PLUS_ID" val="title"/>
</p:tagLst>
</file>

<file path=ppt/tags/tag45.xml><?xml version="1.0" encoding="utf-8"?>
<p:tagLst xmlns:a="http://schemas.openxmlformats.org/drawingml/2006/main" xmlns:r="http://schemas.openxmlformats.org/officeDocument/2006/relationships" xmlns:p="http://schemas.openxmlformats.org/presentationml/2006/main">
  <p:tag name="PLUS_ID" val="logo"/>
</p:tagLst>
</file>

<file path=ppt/tags/tag46.xml><?xml version="1.0" encoding="utf-8"?>
<p:tagLst xmlns:a="http://schemas.openxmlformats.org/drawingml/2006/main" xmlns:r="http://schemas.openxmlformats.org/officeDocument/2006/relationships" xmlns:p="http://schemas.openxmlformats.org/presentationml/2006/main">
  <p:tag name="PLUS_ID" val="chapter"/>
</p:tagLst>
</file>

<file path=ppt/tags/tag47.xml><?xml version="1.0" encoding="utf-8"?>
<p:tagLst xmlns:a="http://schemas.openxmlformats.org/drawingml/2006/main" xmlns:r="http://schemas.openxmlformats.org/officeDocument/2006/relationships" xmlns:p="http://schemas.openxmlformats.org/presentationml/2006/main">
  <p:tag name="PLUS_ID" val="detail_0"/>
</p:tagLst>
</file>

<file path=ppt/tags/tag48.xml><?xml version="1.0" encoding="utf-8"?>
<p:tagLst xmlns:a="http://schemas.openxmlformats.org/drawingml/2006/main" xmlns:r="http://schemas.openxmlformats.org/officeDocument/2006/relationships" xmlns:p="http://schemas.openxmlformats.org/presentationml/2006/main">
  <p:tag name="PLUS_ID" val="detail_1"/>
</p:tagLst>
</file>

<file path=ppt/tags/tag49.xml><?xml version="1.0" encoding="utf-8"?>
<p:tagLst xmlns:a="http://schemas.openxmlformats.org/drawingml/2006/main" xmlns:r="http://schemas.openxmlformats.org/officeDocument/2006/relationships" xmlns:p="http://schemas.openxmlformats.org/presentationml/2006/main">
  <p:tag name="PLUS_ID" val="detail_2"/>
</p:tagLst>
</file>

<file path=ppt/tags/tag50.xml><?xml version="1.0" encoding="utf-8"?>
<p:tagLst xmlns:a="http://schemas.openxmlformats.org/drawingml/2006/main" xmlns:r="http://schemas.openxmlformats.org/officeDocument/2006/relationships" xmlns:p="http://schemas.openxmlformats.org/presentationml/2006/main">
  <p:tag name="PLUS_ID" val="header_0"/>
</p:tagLst>
</file>

<file path=ppt/tags/tag51.xml><?xml version="1.0" encoding="utf-8"?>
<p:tagLst xmlns:a="http://schemas.openxmlformats.org/drawingml/2006/main" xmlns:r="http://schemas.openxmlformats.org/officeDocument/2006/relationships" xmlns:p="http://schemas.openxmlformats.org/presentationml/2006/main">
  <p:tag name="PLUS_ID" val="header_1"/>
</p:tagLst>
</file>

<file path=ppt/tags/tag52.xml><?xml version="1.0" encoding="utf-8"?>
<p:tagLst xmlns:a="http://schemas.openxmlformats.org/drawingml/2006/main" xmlns:r="http://schemas.openxmlformats.org/officeDocument/2006/relationships" xmlns:p="http://schemas.openxmlformats.org/presentationml/2006/main">
  <p:tag name="PLUS_ID" val="header_2"/>
</p:tagLst>
</file>

<file path=ppt/tags/tag53.xml><?xml version="1.0" encoding="utf-8"?>
<p:tagLst xmlns:a="http://schemas.openxmlformats.org/drawingml/2006/main" xmlns:r="http://schemas.openxmlformats.org/officeDocument/2006/relationships" xmlns:p="http://schemas.openxmlformats.org/presentationml/2006/main">
  <p:tag name="PLUS_ID" val="deliverable_0"/>
</p:tagLst>
</file>

<file path=ppt/tags/tag54.xml><?xml version="1.0" encoding="utf-8"?>
<p:tagLst xmlns:a="http://schemas.openxmlformats.org/drawingml/2006/main" xmlns:r="http://schemas.openxmlformats.org/officeDocument/2006/relationships" xmlns:p="http://schemas.openxmlformats.org/presentationml/2006/main">
  <p:tag name="PLUS_ID" val="deliverable_1"/>
</p:tagLst>
</file>

<file path=ppt/tags/tag55.xml><?xml version="1.0" encoding="utf-8"?>
<p:tagLst xmlns:a="http://schemas.openxmlformats.org/drawingml/2006/main" xmlns:r="http://schemas.openxmlformats.org/officeDocument/2006/relationships" xmlns:p="http://schemas.openxmlformats.org/presentationml/2006/main">
  <p:tag name="PLUS_ID" val="deliverable_2"/>
</p:tagLst>
</file>

<file path=ppt/tags/tag56.xml><?xml version="1.0" encoding="utf-8"?>
<p:tagLst xmlns:a="http://schemas.openxmlformats.org/drawingml/2006/main" xmlns:r="http://schemas.openxmlformats.org/officeDocument/2006/relationships" xmlns:p="http://schemas.openxmlformats.org/presentationml/2006/main">
  <p:tag name="PLUS_ID" val="chapter"/>
</p:tagLst>
</file>

<file path=ppt/tags/tag57.xml><?xml version="1.0" encoding="utf-8"?>
<p:tagLst xmlns:a="http://schemas.openxmlformats.org/drawingml/2006/main" xmlns:r="http://schemas.openxmlformats.org/officeDocument/2006/relationships" xmlns:p="http://schemas.openxmlformats.org/presentationml/2006/main">
  <p:tag name="PLUS_ID" val="title"/>
</p:tagLst>
</file>

<file path=ppt/tags/tag58.xml><?xml version="1.0" encoding="utf-8"?>
<p:tagLst xmlns:a="http://schemas.openxmlformats.org/drawingml/2006/main" xmlns:r="http://schemas.openxmlformats.org/officeDocument/2006/relationships" xmlns:p="http://schemas.openxmlformats.org/presentationml/2006/main">
  <p:tag name="PLUS_ID" val="pro_header"/>
</p:tagLst>
</file>

<file path=ppt/tags/tag59.xml><?xml version="1.0" encoding="utf-8"?>
<p:tagLst xmlns:a="http://schemas.openxmlformats.org/drawingml/2006/main" xmlns:r="http://schemas.openxmlformats.org/officeDocument/2006/relationships" xmlns:p="http://schemas.openxmlformats.org/presentationml/2006/main">
  <p:tag name="PLUS_ID" val="pro_detail"/>
</p:tagLst>
</file>

<file path=ppt/tags/tag60.xml><?xml version="1.0" encoding="utf-8"?>
<p:tagLst xmlns:a="http://schemas.openxmlformats.org/drawingml/2006/main" xmlns:r="http://schemas.openxmlformats.org/officeDocument/2006/relationships" xmlns:p="http://schemas.openxmlformats.org/presentationml/2006/main">
  <p:tag name="PLUS_ID" val="con_header"/>
</p:tagLst>
</file>

<file path=ppt/tags/tag61.xml><?xml version="1.0" encoding="utf-8"?>
<p:tagLst xmlns:a="http://schemas.openxmlformats.org/drawingml/2006/main" xmlns:r="http://schemas.openxmlformats.org/officeDocument/2006/relationships" xmlns:p="http://schemas.openxmlformats.org/presentationml/2006/main">
  <p:tag name="PLUS_ID" val="con_detail"/>
</p:tagLst>
</file>

<file path=ppt/tags/tag62.xml><?xml version="1.0" encoding="utf-8"?>
<p:tagLst xmlns:a="http://schemas.openxmlformats.org/drawingml/2006/main" xmlns:r="http://schemas.openxmlformats.org/officeDocument/2006/relationships" xmlns:p="http://schemas.openxmlformats.org/presentationml/2006/main">
  <p:tag name="PLUS_ID" val="logo"/>
</p:tagLst>
</file>

<file path=ppt/tags/tag63.xml><?xml version="1.0" encoding="utf-8"?>
<p:tagLst xmlns:a="http://schemas.openxmlformats.org/drawingml/2006/main" xmlns:r="http://schemas.openxmlformats.org/officeDocument/2006/relationships" xmlns:p="http://schemas.openxmlformats.org/presentationml/2006/main">
  <p:tag name="PLUS_ID" val="chapter"/>
</p:tagLst>
</file>

<file path=ppt/tags/tag64.xml><?xml version="1.0" encoding="utf-8"?>
<p:tagLst xmlns:a="http://schemas.openxmlformats.org/drawingml/2006/main" xmlns:r="http://schemas.openxmlformats.org/officeDocument/2006/relationships" xmlns:p="http://schemas.openxmlformats.org/presentationml/2006/main">
  <p:tag name="PLUS_ID" val="title"/>
</p:tagLst>
</file>

<file path=ppt/tags/tag65.xml><?xml version="1.0" encoding="utf-8"?>
<p:tagLst xmlns:a="http://schemas.openxmlformats.org/drawingml/2006/main" xmlns:r="http://schemas.openxmlformats.org/officeDocument/2006/relationships" xmlns:p="http://schemas.openxmlformats.org/presentationml/2006/main">
  <p:tag name="PLUS_ID" val="icon_3"/>
</p:tagLst>
</file>

<file path=ppt/tags/tag66.xml><?xml version="1.0" encoding="utf-8"?>
<p:tagLst xmlns:a="http://schemas.openxmlformats.org/drawingml/2006/main" xmlns:r="http://schemas.openxmlformats.org/officeDocument/2006/relationships" xmlns:p="http://schemas.openxmlformats.org/presentationml/2006/main">
  <p:tag name="PLUS_ID" val="icon_0"/>
</p:tagLst>
</file>

<file path=ppt/tags/tag67.xml><?xml version="1.0" encoding="utf-8"?>
<p:tagLst xmlns:a="http://schemas.openxmlformats.org/drawingml/2006/main" xmlns:r="http://schemas.openxmlformats.org/officeDocument/2006/relationships" xmlns:p="http://schemas.openxmlformats.org/presentationml/2006/main">
  <p:tag name="PLUS_ID" val="icon_1"/>
</p:tagLst>
</file>

<file path=ppt/tags/tag68.xml><?xml version="1.0" encoding="utf-8"?>
<p:tagLst xmlns:a="http://schemas.openxmlformats.org/drawingml/2006/main" xmlns:r="http://schemas.openxmlformats.org/officeDocument/2006/relationships" xmlns:p="http://schemas.openxmlformats.org/presentationml/2006/main">
  <p:tag name="PLUS_ID" val="icon_2"/>
</p:tagLst>
</file>

<file path=ppt/tags/tag69.xml><?xml version="1.0" encoding="utf-8"?>
<p:tagLst xmlns:a="http://schemas.openxmlformats.org/drawingml/2006/main" xmlns:r="http://schemas.openxmlformats.org/officeDocument/2006/relationships" xmlns:p="http://schemas.openxmlformats.org/presentationml/2006/main">
  <p:tag name="PLUS_ID" val="logo"/>
</p:tagLst>
</file>

<file path=ppt/tags/tag70.xml><?xml version="1.0" encoding="utf-8"?>
<p:tagLst xmlns:a="http://schemas.openxmlformats.org/drawingml/2006/main" xmlns:r="http://schemas.openxmlformats.org/officeDocument/2006/relationships" xmlns:p="http://schemas.openxmlformats.org/presentationml/2006/main">
  <p:tag name="PLUS_ID" val="header_0"/>
</p:tagLst>
</file>

<file path=ppt/tags/tag71.xml><?xml version="1.0" encoding="utf-8"?>
<p:tagLst xmlns:a="http://schemas.openxmlformats.org/drawingml/2006/main" xmlns:r="http://schemas.openxmlformats.org/officeDocument/2006/relationships" xmlns:p="http://schemas.openxmlformats.org/presentationml/2006/main">
  <p:tag name="PLUS_ID" val="detail_0"/>
</p:tagLst>
</file>

<file path=ppt/tags/tag72.xml><?xml version="1.0" encoding="utf-8"?>
<p:tagLst xmlns:a="http://schemas.openxmlformats.org/drawingml/2006/main" xmlns:r="http://schemas.openxmlformats.org/officeDocument/2006/relationships" xmlns:p="http://schemas.openxmlformats.org/presentationml/2006/main">
  <p:tag name="PLUS_ID" val="detail_1"/>
</p:tagLst>
</file>

<file path=ppt/tags/tag73.xml><?xml version="1.0" encoding="utf-8"?>
<p:tagLst xmlns:a="http://schemas.openxmlformats.org/drawingml/2006/main" xmlns:r="http://schemas.openxmlformats.org/officeDocument/2006/relationships" xmlns:p="http://schemas.openxmlformats.org/presentationml/2006/main">
  <p:tag name="PLUS_ID" val="header_1"/>
</p:tagLst>
</file>

<file path=ppt/tags/tag74.xml><?xml version="1.0" encoding="utf-8"?>
<p:tagLst xmlns:a="http://schemas.openxmlformats.org/drawingml/2006/main" xmlns:r="http://schemas.openxmlformats.org/officeDocument/2006/relationships" xmlns:p="http://schemas.openxmlformats.org/presentationml/2006/main">
  <p:tag name="PLUS_ID" val="detail_2"/>
</p:tagLst>
</file>

<file path=ppt/tags/tag75.xml><?xml version="1.0" encoding="utf-8"?>
<p:tagLst xmlns:a="http://schemas.openxmlformats.org/drawingml/2006/main" xmlns:r="http://schemas.openxmlformats.org/officeDocument/2006/relationships" xmlns:p="http://schemas.openxmlformats.org/presentationml/2006/main">
  <p:tag name="PLUS_ID" val="detail_3"/>
</p:tagLst>
</file>

<file path=ppt/tags/tag76.xml><?xml version="1.0" encoding="utf-8"?>
<p:tagLst xmlns:a="http://schemas.openxmlformats.org/drawingml/2006/main" xmlns:r="http://schemas.openxmlformats.org/officeDocument/2006/relationships" xmlns:p="http://schemas.openxmlformats.org/presentationml/2006/main">
  <p:tag name="PLUS_ID" val="header_2"/>
</p:tagLst>
</file>

<file path=ppt/tags/tag77.xml><?xml version="1.0" encoding="utf-8"?>
<p:tagLst xmlns:a="http://schemas.openxmlformats.org/drawingml/2006/main" xmlns:r="http://schemas.openxmlformats.org/officeDocument/2006/relationships" xmlns:p="http://schemas.openxmlformats.org/presentationml/2006/main">
  <p:tag name="PLUS_ID" val="header_3"/>
</p:tagLst>
</file>

<file path=ppt/tags/tag78.xml><?xml version="1.0" encoding="utf-8"?>
<p:tagLst xmlns:a="http://schemas.openxmlformats.org/drawingml/2006/main" xmlns:r="http://schemas.openxmlformats.org/officeDocument/2006/relationships" xmlns:p="http://schemas.openxmlformats.org/presentationml/2006/main">
  <p:tag name="PLUS_ID" val="statement"/>
</p:tagLst>
</file>

<file path=ppt/tags/tag79.xml><?xml version="1.0" encoding="utf-8"?>
<p:tagLst xmlns:a="http://schemas.openxmlformats.org/drawingml/2006/main" xmlns:r="http://schemas.openxmlformats.org/officeDocument/2006/relationships" xmlns:p="http://schemas.openxmlformats.org/presentationml/2006/main">
  <p:tag name="PLUS_ID" val="chapter"/>
</p:tagLst>
</file>

<file path=ppt/tags/tag80.xml><?xml version="1.0" encoding="utf-8"?>
<p:tagLst xmlns:a="http://schemas.openxmlformats.org/drawingml/2006/main" xmlns:r="http://schemas.openxmlformats.org/officeDocument/2006/relationships" xmlns:p="http://schemas.openxmlformats.org/presentationml/2006/main">
  <p:tag name="PLUS_ID" val="detail"/>
</p:tagLst>
</file>

<file path=ppt/tags/tag81.xml><?xml version="1.0" encoding="utf-8"?>
<p:tagLst xmlns:a="http://schemas.openxmlformats.org/drawingml/2006/main" xmlns:r="http://schemas.openxmlformats.org/officeDocument/2006/relationships" xmlns:p="http://schemas.openxmlformats.org/presentationml/2006/main">
  <p:tag name="PLUS_ID" val="logo"/>
</p:tagLst>
</file>

<file path=ppt/theme/theme1.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051EE4D-3E7D-46AF-B51D-ACC719DE4F08}">
  <we:reference id="WA200007130" version="1.0.0.1" store="Omex"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8908</TotalTime>
  <Words>1184</Words>
  <Application>Microsoft Office PowerPoint</Application>
  <PresentationFormat>Widescreen</PresentationFormat>
  <Paragraphs>141</Paragraphs>
  <Slides>12</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Aptos</vt:lpstr>
      <vt:lpstr>Aptos (Body)</vt:lpstr>
      <vt:lpstr>Aptos Display</vt:lpstr>
      <vt:lpstr>Arial</vt:lpstr>
      <vt:lpstr>Franklin Gothic Book</vt:lpstr>
      <vt:lpstr>Plus Default 2025</vt:lpstr>
      <vt:lpstr>Plus Default 2025</vt:lpstr>
      <vt:lpstr>Agentic AI</vt:lpstr>
      <vt:lpstr>PowerPoint Presentation</vt:lpstr>
      <vt:lpstr>What Is Agentic AI?</vt:lpstr>
      <vt:lpstr>Five Defining Characteristics</vt:lpstr>
      <vt:lpstr>PowerPoint Presentation</vt:lpstr>
      <vt:lpstr>Real-World Applications Transforming Industries</vt:lpstr>
      <vt:lpstr>How Agentic AI Works: The Perception–Reasoning–Action Loop</vt:lpstr>
      <vt:lpstr>Opportunities Are Immense — But So Are the Risks</vt:lpstr>
      <vt:lpstr>The Road Ahead: Key Trends Shaping Agentic AI</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Li</dc:creator>
  <cp:lastModifiedBy>gabriel gacovicaj</cp:lastModifiedBy>
  <cp:revision>105</cp:revision>
  <dcterms:created xsi:type="dcterms:W3CDTF">2025-11-20T22:16:45Z</dcterms:created>
  <dcterms:modified xsi:type="dcterms:W3CDTF">2026-04-17T17:08:16Z</dcterms:modified>
</cp:coreProperties>
</file>